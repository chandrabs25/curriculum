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7beddd934c4c22" /><Relationship Type="http://schemas.openxmlformats.org/officeDocument/2006/relationships/extended-properties" Target="/docProps/app.xml" Id="Rd8e99486d8724e11" /><Relationship Type="http://schemas.openxmlformats.org/officeDocument/2006/relationships/officeDocument" Target="/ppt/presentation.xml" Id="R5e1b3492369d43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c3fd350a044bd9"/>
  </p:sldMasterIdLst>
  <p:notesMasterIdLst>
    <p:notesMasterId xmlns:r="http://schemas.openxmlformats.org/officeDocument/2006/relationships" r:id="R7cc17d8b36de4ced"/>
  </p:notesMasterIdLst>
  <p:sldIdLst>
    <p:sldId xmlns:r="http://schemas.openxmlformats.org/officeDocument/2006/relationships" id="256" r:id="R73967a37aa7645af"/>
    <p:sldId xmlns:r="http://schemas.openxmlformats.org/officeDocument/2006/relationships" id="257" r:id="Rec7c2e5f05c94252"/>
    <p:sldId xmlns:r="http://schemas.openxmlformats.org/officeDocument/2006/relationships" id="258" r:id="R72c6ca4bb9ec4615"/>
    <p:sldId xmlns:r="http://schemas.openxmlformats.org/officeDocument/2006/relationships" id="259" r:id="R3d6e3117d49e4098"/>
    <p:sldId xmlns:r="http://schemas.openxmlformats.org/officeDocument/2006/relationships" id="260" r:id="Re0d28a3f8aa248e3"/>
    <p:sldId xmlns:r="http://schemas.openxmlformats.org/officeDocument/2006/relationships" id="261" r:id="R8120a4fa75ed479b"/>
    <p:sldId xmlns:r="http://schemas.openxmlformats.org/officeDocument/2006/relationships" id="262" r:id="Rbe1b46e2ddfe407e"/>
    <p:sldId xmlns:r="http://schemas.openxmlformats.org/officeDocument/2006/relationships" id="263" r:id="R02247808177a4bef"/>
    <p:sldId xmlns:r="http://schemas.openxmlformats.org/officeDocument/2006/relationships" id="264" r:id="R33534b978ede4199"/>
    <p:sldId xmlns:r="http://schemas.openxmlformats.org/officeDocument/2006/relationships" id="265" r:id="R5f5cd408635841f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e8126fa43a4acb" /><Relationship Type="http://schemas.openxmlformats.org/officeDocument/2006/relationships/slideMaster" Target="/ppt/slideMasters/slideMaster1.xml" Id="Ra5c3fd350a044bd9" /><Relationship Type="http://schemas.openxmlformats.org/officeDocument/2006/relationships/notesMaster" Target="/ppt/notesMasters/notesMaster1.xml" Id="R7cc17d8b36de4ced" /><Relationship Type="http://schemas.openxmlformats.org/officeDocument/2006/relationships/presProps" Target="/ppt/presProps.xml" Id="R3b18deb7300c43a1" /><Relationship Type="http://schemas.openxmlformats.org/officeDocument/2006/relationships/viewProps" Target="/ppt/viewProps.xml" Id="R0ee32f0c1cf54fc7" /><Relationship Type="http://schemas.openxmlformats.org/officeDocument/2006/relationships/tableStyles" Target="/ppt/tableStyles.xml" Id="Rd0c2cec228614b04" /><Relationship Type="http://schemas.openxmlformats.org/officeDocument/2006/relationships/slide" Target="/ppt/slides/slide1.xml" Id="R73967a37aa7645af" /><Relationship Type="http://schemas.openxmlformats.org/officeDocument/2006/relationships/slide" Target="/ppt/slides/slide2.xml" Id="Rec7c2e5f05c94252" /><Relationship Type="http://schemas.openxmlformats.org/officeDocument/2006/relationships/slide" Target="/ppt/slides/slide3.xml" Id="R72c6ca4bb9ec4615" /><Relationship Type="http://schemas.openxmlformats.org/officeDocument/2006/relationships/slide" Target="/ppt/slides/slide4.xml" Id="R3d6e3117d49e4098" /><Relationship Type="http://schemas.openxmlformats.org/officeDocument/2006/relationships/slide" Target="/ppt/slides/slide5.xml" Id="Re0d28a3f8aa248e3" /><Relationship Type="http://schemas.openxmlformats.org/officeDocument/2006/relationships/slide" Target="/ppt/slides/slide6.xml" Id="R8120a4fa75ed479b" /><Relationship Type="http://schemas.openxmlformats.org/officeDocument/2006/relationships/slide" Target="/ppt/slides/slide7.xml" Id="Rbe1b46e2ddfe407e" /><Relationship Type="http://schemas.openxmlformats.org/officeDocument/2006/relationships/slide" Target="/ppt/slides/slide8.xml" Id="R02247808177a4bef" /><Relationship Type="http://schemas.openxmlformats.org/officeDocument/2006/relationships/slide" Target="/ppt/slides/slide9.xml" Id="R33534b978ede4199" /><Relationship Type="http://schemas.openxmlformats.org/officeDocument/2006/relationships/slide" Target="/ppt/slides/slide10.xml" Id="R5f5cd408635841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5b0c62b64846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8c46f0370e475a" /><Relationship Type="http://schemas.openxmlformats.org/officeDocument/2006/relationships/notesMaster" Target="/ppt/notesMasters/notesMaster1.xml" Id="R0cd9fdb437df4f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1e406242df4706" /><Relationship Type="http://schemas.openxmlformats.org/officeDocument/2006/relationships/notesMaster" Target="/ppt/notesMasters/notesMaster1.xml" Id="Ra58a853774c44c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0beff1d3294a99" /><Relationship Type="http://schemas.openxmlformats.org/officeDocument/2006/relationships/notesMaster" Target="/ppt/notesMasters/notesMaster1.xml" Id="R3da5020f96644e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aeffa19afe4f53" /><Relationship Type="http://schemas.openxmlformats.org/officeDocument/2006/relationships/notesMaster" Target="/ppt/notesMasters/notesMaster1.xml" Id="Rc06e5d61858841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779646e8ec4206" /><Relationship Type="http://schemas.openxmlformats.org/officeDocument/2006/relationships/notesMaster" Target="/ppt/notesMasters/notesMaster1.xml" Id="Rd99d3cd6393a4f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2837e324bb4cd4" /><Relationship Type="http://schemas.openxmlformats.org/officeDocument/2006/relationships/notesMaster" Target="/ppt/notesMasters/notesMaster1.xml" Id="Rd7ef6152db0543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7885afe22d4676" /><Relationship Type="http://schemas.openxmlformats.org/officeDocument/2006/relationships/notesMaster" Target="/ppt/notesMasters/notesMaster1.xml" Id="Rf4f050220da548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5e29ad068f47c1" /><Relationship Type="http://schemas.openxmlformats.org/officeDocument/2006/relationships/notesMaster" Target="/ppt/notesMasters/notesMaster1.xml" Id="R720f323f082148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e16b215b3f4214" /><Relationship Type="http://schemas.openxmlformats.org/officeDocument/2006/relationships/notesMaster" Target="/ppt/notesMasters/notesMaster1.xml" Id="Rdac377f127de4a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bf09b2d3054a09" /><Relationship Type="http://schemas.openxmlformats.org/officeDocument/2006/relationships/notesMaster" Target="/ppt/notesMasters/notesMaster1.xml" Id="Rf707deb477d44b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89aa65410b46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2955cee47d46a4" /><Relationship Type="http://schemas.openxmlformats.org/officeDocument/2006/relationships/slideLayout" Target="/ppt/slideLayouts/slideLayout1.xml" Id="R476525315fd54b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6525315fd54b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fe9eb4f474e5a" /><Relationship Type="http://schemas.openxmlformats.org/officeDocument/2006/relationships/notesSlide" Target="/ppt/notesSlides/notesSlide1.xml" Id="Rd051be3c9ca043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01c2d83ca24cec" /><Relationship Type="http://schemas.openxmlformats.org/officeDocument/2006/relationships/notesSlide" Target="/ppt/notesSlides/notesSlide2.xml" Id="R18ba9c7c69a049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f8109629f4d37" /><Relationship Type="http://schemas.openxmlformats.org/officeDocument/2006/relationships/notesSlide" Target="/ppt/notesSlides/notesSlide3.xml" Id="Rd52a22329ff840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93aea76db47de" /><Relationship Type="http://schemas.openxmlformats.org/officeDocument/2006/relationships/notesSlide" Target="/ppt/notesSlides/notesSlide4.xml" Id="R6b3573ba11f94c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6ab54c2b847ff" /><Relationship Type="http://schemas.openxmlformats.org/officeDocument/2006/relationships/notesSlide" Target="/ppt/notesSlides/notesSlide5.xml" Id="R85bdb65ad0784b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1361494214243" /><Relationship Type="http://schemas.openxmlformats.org/officeDocument/2006/relationships/notesSlide" Target="/ppt/notesSlides/notesSlide6.xml" Id="R72ac1df8af7842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42ac7391cb43e0" /><Relationship Type="http://schemas.openxmlformats.org/officeDocument/2006/relationships/notesSlide" Target="/ppt/notesSlides/notesSlide7.xml" Id="Rfc3a95c586764f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2d3cbe07d4ab7" /><Relationship Type="http://schemas.openxmlformats.org/officeDocument/2006/relationships/notesSlide" Target="/ppt/notesSlides/notesSlide8.xml" Id="R05720a3e21564c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6e39276a64a96" /><Relationship Type="http://schemas.openxmlformats.org/officeDocument/2006/relationships/notesSlide" Target="/ppt/notesSlides/notesSlide9.xml" Id="R85d28d26c39b401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f2e76c8bd4e19" /><Relationship Type="http://schemas.openxmlformats.org/officeDocument/2006/relationships/notesSlide" Target="/ppt/notesSlides/notesSlide10.xml" Id="R1697a8352f4740c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EC26CE-1336-411A-B24B-DC36A906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16"/>
          </a:solidFill>
          <a:ln xmlns:a="http://schemas.openxmlformats.org/drawingml/2006/main" w="0">
            <a:solidFill>
              <a:srgbClr val="12131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B0D7D-58E5-4B29-B651-B02DB4CE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SYSTEM 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9AA2B-447D-4504-8711-34CCA6DC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838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curriculum agent scales because LLMs are downstream of structured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059758-2FD5-4030-BAA9-CD076B06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EB5C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5C2"/>
                </a:solidFill>
                <a:latin typeface="Aptos"/>
                <a:ea typeface="Aptos"/>
                <a:cs typeface="Aptos"/>
              </a:rPr>
              <a:t>The project is not a single prompt. It is a data pipeline, retrieval system, graph layer, and a set of bounded LLM decisions.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EC04A8-5A32-4210-B617-B6DEF524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2286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026"/>
          </a:solidFill>
          <a:ln xmlns:a="http://schemas.openxmlformats.org/drawingml/2006/main" w="9525">
            <a:solidFill>
              <a:srgbClr val="33394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9E1B9-F886-4190-8EDE-A0B20E0A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93B3F5-29B1-4376-942E-EEA7565D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38475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Clean corpus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546FA9-8E0C-42C2-BC09-1FDCCF24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43275"/>
            <a:ext cx="2019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EB5C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EB5C2"/>
                </a:solidFill>
                <a:latin typeface="Aptos"/>
                <a:ea typeface="Aptos"/>
                <a:cs typeface="Aptos"/>
              </a:rPr>
              <a:t>NCERT JSON sections, summaries, concepts, exercises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F362E7-4C45-4359-8343-5D579779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05125"/>
            <a:ext cx="2286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026"/>
          </a:solidFill>
          <a:ln xmlns:a="http://schemas.openxmlformats.org/drawingml/2006/main" w="9525">
            <a:solidFill>
              <a:srgbClr val="33394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915D4F-BA15-494E-8834-0BB08C0A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05125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54B791-53C3-4931-8889-E1652BEC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38475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Graph + vectors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9ED8C0-7B17-435A-8FC6-92158F1F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343275"/>
            <a:ext cx="2019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EB5C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EB5C2"/>
                </a:solidFill>
                <a:latin typeface="Aptos"/>
                <a:ea typeface="Aptos"/>
                <a:cs typeface="Aptos"/>
              </a:rPr>
              <a:t>canonical concepts, relationships, pgvector index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155D1B-AEAE-43AA-8631-16529EC6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05125"/>
            <a:ext cx="2286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026"/>
          </a:solidFill>
          <a:ln xmlns:a="http://schemas.openxmlformats.org/drawingml/2006/main" w="9525">
            <a:solidFill>
              <a:srgbClr val="33394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246C54-F3DE-42F9-8174-293767DA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05125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131F80-90F0-4514-A838-B97AAACE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38475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LLM decisions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768423-CC4E-4BC1-9D90-EF69AAF2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43275"/>
            <a:ext cx="2019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EB5C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EB5C2"/>
                </a:solidFill>
                <a:latin typeface="Aptos"/>
                <a:ea typeface="Aptos"/>
                <a:cs typeface="Aptos"/>
              </a:rPr>
              <a:t>intent, ordering, module design, insight reconciliation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5AB1A3-D600-42FE-B515-531CB5B7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05125"/>
            <a:ext cx="2286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026"/>
          </a:solidFill>
          <a:ln xmlns:a="http://schemas.openxmlformats.org/drawingml/2006/main" w="9525">
            <a:solidFill>
              <a:srgbClr val="33394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F90A3C-1799-43B3-B4BE-67E233A6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05125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AE8"/>
          </a:solidFill>
          <a:ln xmlns:a="http://schemas.openxmlformats.org/drawingml/2006/main" w="0">
            <a:solidFill>
              <a:srgbClr val="6F5A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68BDDA-58D1-4FA7-84BE-E00D1DE5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38475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Learning memory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704061-7FD5-4FE2-B4F8-7D030E4D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43275"/>
            <a:ext cx="2019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EB5C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EB5C2"/>
                </a:solidFill>
                <a:latin typeface="Aptos"/>
                <a:ea typeface="Aptos"/>
                <a:cs typeface="Aptos"/>
              </a:rPr>
              <a:t>checkpoint attempts, latest insights, hotspots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DBD0B8-F5E5-4844-9CF6-89ABBD43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5757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F70"/>
          </a:solidFill>
          <a:ln xmlns:a="http://schemas.openxmlformats.org/drawingml/2006/main" w="0">
            <a:solidFill>
              <a:srgbClr val="555F7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196419-97B1-4EC4-9F53-2EDDB386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5757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F70"/>
          </a:solidFill>
          <a:ln xmlns:a="http://schemas.openxmlformats.org/drawingml/2006/main" w="0">
            <a:solidFill>
              <a:srgbClr val="555F7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FAF230-33B6-4762-A78D-EBD49D25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5757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F70"/>
          </a:solidFill>
          <a:ln xmlns:a="http://schemas.openxmlformats.org/drawingml/2006/main" w="0">
            <a:solidFill>
              <a:srgbClr val="555F7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D9DE04-785F-4600-8F41-ED440D45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638" y="34242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211C74-AD3B-4161-8C9A-3FF76AA8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938" y="34242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9075D6-E302-4F29-961E-6770A840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8238" y="34242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591EDB-9B30-4F1B-A8D7-79FD14E8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95875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6FE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F6FED"/>
                </a:solidFill>
                <a:latin typeface="Aptos Display"/>
                <a:ea typeface="Aptos Display"/>
                <a:cs typeface="Aptos Display"/>
              </a:rPr>
              <a:t>73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462601-BFA4-4EA1-9776-60891CE2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022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5C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5C2"/>
                </a:solidFill>
                <a:latin typeface="Aptos"/>
                <a:ea typeface="Aptos"/>
                <a:cs typeface="Aptos"/>
              </a:rPr>
              <a:t>usable chapters in runtime corpus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A46AA3-6E5A-4540-8A65-C82D2A87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095875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A06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A06A"/>
                </a:solidFill>
                <a:latin typeface="Aptos Display"/>
                <a:ea typeface="Aptos Display"/>
                <a:cs typeface="Aptos Display"/>
              </a:rPr>
              <a:t>841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45DDA2-CD1E-4AB4-B482-882E0E6E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61022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5C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5C2"/>
                </a:solidFill>
                <a:latin typeface="Aptos"/>
                <a:ea typeface="Aptos"/>
                <a:cs typeface="Aptos"/>
              </a:rPr>
              <a:t>section embedding rows in pgvector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02493F-BE8A-4638-AAEF-03799B25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095875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86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D98622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FC8777-7E53-4724-BDBF-74DB4381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61022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5C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5C2"/>
                </a:solidFill>
                <a:latin typeface="Aptos"/>
                <a:ea typeface="Aptos"/>
                <a:cs typeface="Aptos"/>
              </a:rPr>
              <a:t>LLM responsibilities, split by job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9DC44B-9001-4EE7-848B-AA6899CD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095875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F5AE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6F5AE8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AA9B30-DE80-4338-A30D-BB6B7403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61022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5C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5C2"/>
                </a:solidFill>
                <a:latin typeface="Aptos"/>
                <a:ea typeface="Aptos"/>
                <a:cs typeface="Aptos"/>
              </a:rPr>
              <a:t>latest insight per learner-section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A8F937-080C-46CE-9227-703049DD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96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96A3"/>
                </a:solidFill>
                <a:latin typeface="Aptos"/>
                <a:ea typeface="Aptos"/>
                <a:cs typeface="Aptos"/>
              </a:rPr>
              <a:t>AI Curriculum Creator / 01</a:t>
            </a:r>
          </a:p>
        </p:txBody>
      </p:sp>
    </p:spTree>
    <p:extLst>
      <p:ext uri="{BB962C8B-B14F-4D97-AF65-F5344CB8AC3E}">
        <p14:creationId xmlns:p14="http://schemas.microsoft.com/office/powerpoint/2010/main" val="66306224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05329B-FDD4-466B-82CB-D2F668BC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9688F-5855-4586-B3B1-528E178C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CONTENT SUBSTRATE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BAF002-6F09-4AE1-B091-B7EF402A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838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316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1316"/>
                </a:solidFill>
                <a:latin typeface="Aptos Display"/>
                <a:ea typeface="Aptos Display"/>
                <a:cs typeface="Aptos Display"/>
              </a:rPr>
              <a:t>The data pipeline turns textbook prose into reusable planning objects.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6F6F8-F958-4633-9951-5777AC24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The runtime does not send full chapters to the planner; it sends compact artifacts generated from section-level source structure.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D8CC3-CDB9-4D01-828C-56F31181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1952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0B0862-9A46-445F-B0CA-F39448CF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C754B5-C047-48F7-975B-3E987F41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1685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3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316"/>
                </a:solidFill>
                <a:latin typeface="Aptos"/>
                <a:ea typeface="Aptos"/>
                <a:cs typeface="Aptos"/>
              </a:rPr>
              <a:t>Textbook 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67010B-5BFA-4947-900E-217FDED5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16859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chapters → sections → subsections, examples, tables, diagrams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AB1E93-5318-4859-9030-187897F1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95550"/>
            <a:ext cx="1952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913DF6-E1E6-4512-A385-AD6223DE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955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295EBC-B07C-4FB1-B77C-93D30130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28900"/>
            <a:ext cx="1685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3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316"/>
                </a:solidFill>
                <a:latin typeface="Aptos"/>
                <a:ea typeface="Aptos"/>
                <a:cs typeface="Aptos"/>
              </a:rPr>
              <a:t>Section summaries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C7E9BB-E08E-476B-8E67-5211DEBC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33700"/>
            <a:ext cx="16859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one compact summary per section-like curriculum unit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321EE8-31CB-4490-B740-25C072A8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95550"/>
            <a:ext cx="1952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5E7BAB-1E6F-4614-8B55-FBC4CBB7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955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EFD26-17F7-411C-B110-C78030D9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628900"/>
            <a:ext cx="1685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3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316"/>
                </a:solidFill>
                <a:latin typeface="Aptos"/>
                <a:ea typeface="Aptos"/>
                <a:cs typeface="Aptos"/>
              </a:rPr>
              <a:t>Raw concepts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31D140-9581-44BA-BE0D-CDAAC0F4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33700"/>
            <a:ext cx="16859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teaches/requires candidates with evidence and reason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F6306A-4A17-4D10-A658-E5D145F9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95550"/>
            <a:ext cx="1952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C406D5-868C-416C-B5BB-C0BD762F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955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AE8"/>
          </a:solidFill>
          <a:ln xmlns:a="http://schemas.openxmlformats.org/drawingml/2006/main" w="0">
            <a:solidFill>
              <a:srgbClr val="6F5A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ADEFA8-DB97-418D-8EE7-F9FE999A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28900"/>
            <a:ext cx="1685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3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316"/>
                </a:solidFill>
                <a:latin typeface="Aptos"/>
                <a:ea typeface="Aptos"/>
                <a:cs typeface="Aptos"/>
              </a:rPr>
              <a:t>Canonical registry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A3DD8B-3000-46F1-92ED-B51CD94A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33700"/>
            <a:ext cx="16859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normalized concept IDs plus aliases after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992C44-254D-43E7-89E1-026D2698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495550"/>
            <a:ext cx="16668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25DAF0-5CE5-45EC-8251-3FE42A97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4955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E4E"/>
          </a:solidFill>
          <a:ln xmlns:a="http://schemas.openxmlformats.org/drawingml/2006/main" w="0">
            <a:solidFill>
              <a:srgbClr val="D84E4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F2FA7B-09F3-4E6A-B363-A8433A71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628900"/>
            <a:ext cx="14001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3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316"/>
                </a:solidFill>
                <a:latin typeface="Aptos"/>
                <a:ea typeface="Aptos"/>
                <a:cs typeface="Aptos"/>
              </a:rPr>
              <a:t>Runtime artifacts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FD4F67-FCC9-4BDB-A102-9EC963C0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933700"/>
            <a:ext cx="14001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relationships, section index, retrieval documents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F6442C-BC8A-4A8F-8258-27389F1B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12420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3F8C28-2FAF-46CE-A34D-8A94B3A4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7513" y="31003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77A57B-A7D5-4FE2-8FD2-D1B734AA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12420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5C3694-A8DA-4446-ADCE-ADEE61C1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8763" y="31003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F41DCD-23DF-466B-9CC5-EB1272A9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12420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AB2E3F-713D-4413-9D9A-471F85A8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013" y="31003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903C17-0703-456E-BCD2-8480460B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1242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490D9A-C77F-4AE5-BE5E-BEF3B12E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888" y="31003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1B5A82-7A53-4E95-B456-B86443D1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005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9"/>
          </a:solidFill>
          <a:ln xmlns:a="http://schemas.openxmlformats.org/drawingml/2006/main" w="0">
            <a:solidFill>
              <a:srgbClr val="E7EEF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7DB717-23AA-491D-A1E9-96F5074F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467225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Generated offline / audited as JSONL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0BF50A-5E59-48CB-8393-08B278CB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4005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EC"/>
          </a:solidFill>
          <a:ln xmlns:a="http://schemas.openxmlformats.org/drawingml/2006/main" w="0">
            <a:solidFill>
              <a:srgbClr val="E6F3E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825665-6742-4419-8812-BDA4065C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467225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6A06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6A06A"/>
                </a:solidFill>
                <a:latin typeface="Aptos"/>
                <a:ea typeface="Aptos"/>
                <a:cs typeface="Aptos"/>
              </a:rPr>
              <a:t>Runtime reads packaged artifacts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BA1085-BA4D-4DF5-9725-55D17F4D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4005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8D4"/>
          </a:solidFill>
          <a:ln xmlns:a="http://schemas.openxmlformats.org/drawingml/2006/main" w="0">
            <a:solidFill>
              <a:srgbClr val="F6E8D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BBD274-DD9A-4EEE-A684-EB9A2797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467225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D98622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D98622"/>
                </a:solidFill>
                <a:latin typeface="Aptos"/>
                <a:ea typeface="Aptos"/>
                <a:cs typeface="Aptos"/>
              </a:rPr>
              <a:t>No whole-chapter prompt bloat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9A876B-F165-4687-8F38-B1821762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91125"/>
            <a:ext cx="876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131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21316"/>
                </a:solidFill>
                <a:latin typeface="Aptos Display"/>
                <a:ea typeface="Aptos Display"/>
                <a:cs typeface="Aptos Display"/>
              </a:rPr>
              <a:t>Engineering implication: artifact quality and versioning matter as much as model quality, because every LLM call inherits this substrate.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B6359F-0023-4866-8F3C-8EC203CD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B948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B9488"/>
                </a:solidFill>
                <a:latin typeface="Aptos"/>
                <a:ea typeface="Aptos"/>
                <a:cs typeface="Aptos"/>
              </a:rPr>
              <a:t>AI Curriculum Creator / 02</a:t>
            </a:r>
          </a:p>
        </p:txBody>
      </p:sp>
    </p:spTree>
    <p:extLst>
      <p:ext uri="{BB962C8B-B14F-4D97-AF65-F5344CB8AC3E}">
        <p14:creationId xmlns:p14="http://schemas.microsoft.com/office/powerpoint/2010/main" val="159578760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762E71-BB22-4D18-B164-1F6AE56A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CE1AE-455F-43B3-93A1-3DC6C68E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GRAPH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28B851-A12A-486A-BE47-2AD23AF7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838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316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1316"/>
                </a:solidFill>
                <a:latin typeface="Aptos Display"/>
                <a:ea typeface="Aptos Display"/>
                <a:cs typeface="Aptos Display"/>
              </a:rPr>
              <a:t>Relationships make the curriculum explainable before an LLM sees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C58C0F-8834-4B22-B799-6AE73792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The graph separates hard sequence from optional support so the planner cannot confuse relatedness with prerequisites.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4B937F-5106-42B3-82D1-25608DAA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5810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16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BBD394-06E2-4DB2-877C-EB474608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Relationship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B6A2C5-ACE4-48C2-98E0-03E2808C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05050"/>
            <a:ext cx="371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Planning meaning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8AA14A-861F-4CEA-8FD0-DF95EA12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5810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214B69-C38A-4006-846B-EF0EEDE9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2131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21316"/>
                </a:solidFill>
                <a:latin typeface="Aptos"/>
                <a:ea typeface="Aptos"/>
                <a:cs typeface="Aptos"/>
              </a:rPr>
              <a:t>TEACHES_CONCEPT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10FE94-0D33-4078-B125-876425EF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81300"/>
            <a:ext cx="371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A section introduces, derives, applies, or reinforces a concept.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4872B0-C0A5-4F3C-9EA9-F2D7B1B8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5810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7DA95F-94EE-416B-ACB0-ECA8177C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2131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21316"/>
                </a:solidFill>
                <a:latin typeface="Aptos"/>
                <a:ea typeface="Aptos"/>
                <a:cs typeface="Aptos"/>
              </a:rPr>
              <a:t>REQUIRES_CONCEPT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8F1C9C-BCE1-4C3A-99B5-AE1AA1F6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57550"/>
            <a:ext cx="371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A section expects prior knowledge of a concept.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456E12-7E5C-4D3D-B9A9-0FF68D54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5810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E9AC48-55A3-4699-828A-FAB45944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2131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21316"/>
                </a:solidFill>
                <a:latin typeface="Aptos"/>
                <a:ea typeface="Aptos"/>
                <a:cs typeface="Aptos"/>
              </a:rPr>
              <a:t>DEPENDS_ON_UNIT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F8EEC3-A6E0-45CD-9965-BDF85244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33800"/>
            <a:ext cx="371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Hard ordering: target section should come after prerequisite section.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09FFC0-1416-4A51-B55A-8FD04A83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5810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D0CF7A-0D76-4520-9EC8-1017AB99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2131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21316"/>
                </a:solidFill>
                <a:latin typeface="Aptos"/>
                <a:ea typeface="Aptos"/>
                <a:cs typeface="Aptos"/>
              </a:rPr>
              <a:t>TRANSFER_SUPPORTS_UNIT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444A20-A71F-446E-A860-9417A821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210050"/>
            <a:ext cx="371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Optional cross-chapter or cross-subject bridge.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BA54EE-4F4D-4795-894A-6010305B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5810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44B606-DC8C-42B7-A43B-D1C3460F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2131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21316"/>
                </a:solidFill>
                <a:latin typeface="Aptos"/>
                <a:ea typeface="Aptos"/>
                <a:cs typeface="Aptos"/>
              </a:rPr>
              <a:t>RELATED_BY_CONCEPT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695B65-1612-48B3-AA4D-566B4374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686300"/>
            <a:ext cx="371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Optional reinforcement; never mandatory sequence.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83232E-F283-4D27-8D62-A2D18224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66950"/>
            <a:ext cx="342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42DD5C-3DB7-4D8B-A63A-7ED1D41D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6695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62DD4D-F971-4B30-B426-3F971699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0030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3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316"/>
                </a:solidFill>
                <a:latin typeface="Aptos"/>
                <a:ea typeface="Aptos"/>
                <a:cs typeface="Aptos"/>
              </a:rPr>
              <a:t>Contract discipline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4AB195-5AE0-4908-BBFC-56466320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05100"/>
            <a:ext cx="316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Rows carry IDs, confidence, evidence text, and reasoning. Invalid or dangling IDs are rejected before runtime use.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2D0B40-9230-4514-913E-6EFBFE44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90900"/>
            <a:ext cx="342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BE7C66-1C8D-4730-9484-0914AD51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9090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5D05CB-CFBA-478F-9567-996EEE6C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2425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3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316"/>
                </a:solidFill>
                <a:latin typeface="Aptos"/>
                <a:ea typeface="Aptos"/>
                <a:cs typeface="Aptos"/>
              </a:rPr>
              <a:t>Canonical concepts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3A8B10-756C-4AAC-956A-D868D6AF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829050"/>
            <a:ext cx="316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Aliases and reviewed merges prevent synonym drift from breaking dependency inference.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2704F8-D09E-45B6-A624-F1F18648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14850"/>
            <a:ext cx="342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557FA5-D8B3-4321-8411-3C87C23B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1485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7B6FB0-BE33-4EDD-BADB-0D0C5603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64820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3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316"/>
                </a:solidFill>
                <a:latin typeface="Aptos"/>
                <a:ea typeface="Aptos"/>
                <a:cs typeface="Aptos"/>
              </a:rPr>
              <a:t>Prompt safety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544DE3-98C5-4404-AA21-810E585F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953000"/>
            <a:ext cx="316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LLMs receive relationship purpose labels, not a flat bag of “related sections.”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12AA25-750B-4927-B72B-5619D537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B948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B9488"/>
                </a:solidFill>
                <a:latin typeface="Aptos"/>
                <a:ea typeface="Aptos"/>
                <a:cs typeface="Aptos"/>
              </a:rPr>
              <a:t>AI Curriculum Creator / 03</a:t>
            </a:r>
          </a:p>
        </p:txBody>
      </p:sp>
    </p:spTree>
    <p:extLst>
      <p:ext uri="{BB962C8B-B14F-4D97-AF65-F5344CB8AC3E}">
        <p14:creationId xmlns:p14="http://schemas.microsoft.com/office/powerpoint/2010/main" val="148494905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F30149-4635-4787-B46E-963CD047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F3F1E-F2E6-43B4-9D5E-CB1B462A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RETRIEVAL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A0F80-8C3B-4D4E-9AAF-F40D99F0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838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316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1316"/>
                </a:solidFill>
                <a:latin typeface="Aptos Display"/>
                <a:ea typeface="Aptos Display"/>
                <a:cs typeface="Aptos Display"/>
              </a:rPr>
              <a:t>Semantic search is broad internally, then bounded before curriculum planning.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72B62C-E068-4B1E-A7C3-E929853E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This keeps query understanding rich without allowing thirty loosely similar sections into the planner prompt.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4A524-AC37-4662-AEB9-A705B5BA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80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60C753-BF89-4056-83D6-6ACC1C22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13285-8EF4-4F10-8FAC-B63EE7BD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3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316"/>
                </a:solidFill>
                <a:latin typeface="Aptos"/>
                <a:ea typeface="Aptos"/>
                <a:cs typeface="Aptos"/>
              </a:rPr>
              <a:t>User query + subject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67D9C-A15D-4930-B277-1D19E687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1543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e.g. Biology + photosynthesis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0B8C2-1965-49B5-875D-98996116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81250"/>
            <a:ext cx="180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0E5326-110C-4308-8E7A-4F3CB2D4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812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AE8"/>
          </a:solidFill>
          <a:ln xmlns:a="http://schemas.openxmlformats.org/drawingml/2006/main" w="0">
            <a:solidFill>
              <a:srgbClr val="6F5A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E63341-503B-45C9-AD34-B433F670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1460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3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316"/>
                </a:solidFill>
                <a:latin typeface="Aptos"/>
                <a:ea typeface="Aptos"/>
                <a:cs typeface="Aptos"/>
              </a:rPr>
              <a:t>BGE-M3 embedding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8BDC42-F320-4955-A7A3-3AA9C239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19400"/>
            <a:ext cx="1543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Hugging Face Inference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0201CB-6C6E-4966-A48F-4DB16DCF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81250"/>
            <a:ext cx="180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F2D63E-14CB-4A32-A945-575F5A4D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812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C0A084-4061-4D4B-9007-12A09262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1460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3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316"/>
                </a:solidFill>
                <a:latin typeface="Aptos"/>
                <a:ea typeface="Aptos"/>
                <a:cs typeface="Aptos"/>
              </a:rPr>
              <a:t>pgvector search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841EC6-FE02-46AD-9D14-0CC9F288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19400"/>
            <a:ext cx="1543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HNSW cosine + subject filter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4B62CC-1563-4847-927F-EDA2D912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180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4928BF-5826-4107-A865-CEF4B0C2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379333-8F25-476C-8DAD-DBAA26C7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1460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3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316"/>
                </a:solidFill>
                <a:latin typeface="Aptos"/>
                <a:ea typeface="Aptos"/>
                <a:cs typeface="Aptos"/>
              </a:rPr>
              <a:t>Bounded ranking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F2E68C-36E2-43B8-9763-60546F6C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19400"/>
            <a:ext cx="1543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vector + evidence scoring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E17786-5D23-446B-A39B-524E7220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81250"/>
            <a:ext cx="180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371C4E-3111-49F1-97ED-7179E707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812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E4E"/>
          </a:solidFill>
          <a:ln xmlns:a="http://schemas.openxmlformats.org/drawingml/2006/main" w="0">
            <a:solidFill>
              <a:srgbClr val="D84E4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E91601-38E0-4BED-A10E-6E615803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1460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3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316"/>
                </a:solidFill>
                <a:latin typeface="Aptos"/>
                <a:ea typeface="Aptos"/>
                <a:cs typeface="Aptos"/>
              </a:rPr>
              <a:t>Graph expansion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750D7A-C1B7-4C3F-B885-7CD1B411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19400"/>
            <a:ext cx="1543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hard prerequisites + optional support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70DA50-96BD-42DE-A0C4-2431696F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337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75BAE8-B635-4EB5-9FC6-698D6038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337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7E0793-E0B9-449D-BCA0-8CE10DDC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337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455B2E-7B6D-4C1D-A1FC-77203B4F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337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E73637-97D7-4B9C-9612-EE6E4C23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719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9"/>
          </a:solidFill>
          <a:ln xmlns:a="http://schemas.openxmlformats.org/drawingml/2006/main" w="0">
            <a:solidFill>
              <a:srgbClr val="E7EEF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3474FF-C711-4079-804B-33329BAF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3862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candidate pool ≈ 30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1160A3-21D3-4A2C-B1DC-66B24F7D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719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EC"/>
          </a:solidFill>
          <a:ln xmlns:a="http://schemas.openxmlformats.org/drawingml/2006/main" w="0">
            <a:solidFill>
              <a:srgbClr val="E6F3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122550-76DF-4A41-9DE5-3B15CE7B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38625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6A06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6A06A"/>
                </a:solidFill>
                <a:latin typeface="Aptos"/>
                <a:ea typeface="Aptos"/>
                <a:cs typeface="Aptos"/>
              </a:rPr>
              <a:t>target seeds ≤ 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17FA81-855B-4395-8CB7-3961619D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719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8D4"/>
          </a:solidFill>
          <a:ln xmlns:a="http://schemas.openxmlformats.org/drawingml/2006/main" w="0">
            <a:solidFill>
              <a:srgbClr val="F6E8D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E25E89-7846-4887-AB45-4E447D99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38625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D98622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D98622"/>
                </a:solidFill>
                <a:latin typeface="Aptos"/>
                <a:ea typeface="Aptos"/>
                <a:cs typeface="Aptos"/>
              </a:rPr>
              <a:t>prerequisites are additional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F44475-8133-4ADC-AC85-1ED1C71E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33800"/>
            <a:ext cx="190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6E048A-B7C1-4D95-8CEB-7FA18ECE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95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F2D279-BAD0-4A65-842A-FA90880D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57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D7CE28-70A2-4482-9761-0EE73F92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19700"/>
            <a:ext cx="876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131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21316"/>
                </a:solidFill>
                <a:latin typeface="Aptos Display"/>
                <a:ea typeface="Aptos Display"/>
                <a:cs typeface="Aptos Display"/>
              </a:rPr>
              <a:t>Design consequence: retrieval quality is now a measurable data-engineering problem, not a model-vibes problem.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2AB0B2-F08E-4478-B8F2-B15940DE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B948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B9488"/>
                </a:solidFill>
                <a:latin typeface="Aptos"/>
                <a:ea typeface="Aptos"/>
                <a:cs typeface="Aptos"/>
              </a:rPr>
              <a:t>AI Curriculum Creator / 04</a:t>
            </a:r>
          </a:p>
        </p:txBody>
      </p:sp>
    </p:spTree>
    <p:extLst>
      <p:ext uri="{BB962C8B-B14F-4D97-AF65-F5344CB8AC3E}">
        <p14:creationId xmlns:p14="http://schemas.microsoft.com/office/powerpoint/2010/main" val="9116255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2071B2-4349-499E-9554-A524A894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16"/>
          </a:solidFill>
          <a:ln xmlns:a="http://schemas.openxmlformats.org/drawingml/2006/main" w="0">
            <a:solidFill>
              <a:srgbClr val="12131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CEE93-203C-4649-9A0B-40D664B8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LLM CALL SPLIT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E489F0-EFED-4018-9B6A-2E3632E9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838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Each model call owns one decision boundary, so failures are isolated.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F7B93-B2D4-4CB5-B9AD-B1956847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EB5C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5C2"/>
                </a:solidFill>
                <a:latin typeface="Aptos"/>
                <a:ea typeface="Aptos"/>
                <a:cs typeface="Aptos"/>
              </a:rPr>
              <a:t>The agent uses LLMs as typed workers: classify intent, order sections, design a module, reconcile insights.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00E32A-9299-4254-87D6-0300BD29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2286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026"/>
          </a:solidFill>
          <a:ln xmlns:a="http://schemas.openxmlformats.org/drawingml/2006/main" w="9525">
            <a:solidFill>
              <a:srgbClr val="343A4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A85DB-7829-45B2-841E-243C1B72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47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F87FB-DA78-4C55-A807-A2BDE825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 / Intent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16F068-CA1A-4A78-B57E-210A3C2E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20193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EB5C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EB5C2"/>
                </a:solidFill>
                <a:latin typeface="Aptos"/>
                <a:ea typeface="Aptos"/>
                <a:cs typeface="Aptos"/>
              </a:rPr>
              <a:t>GPT-OSS 120B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8" b="0">
                <a:solidFill>
                  <a:srgbClr val="AEB5C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EB5C2"/>
                </a:solidFill>
                <a:latin typeface="Aptos"/>
                <a:ea typeface="Aptos"/>
                <a:cs typeface="Aptos"/>
              </a:rPr>
              <a:t>Input: query + compact corpus clues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8" b="0">
                <a:solidFill>
                  <a:srgbClr val="AEB5C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EB5C2"/>
                </a:solidFill>
                <a:latin typeface="Aptos"/>
                <a:ea typeface="Aptos"/>
                <a:cs typeface="Aptos"/>
              </a:rPr>
              <a:t>Output: confirmed/refined learning intent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614CD8-8E6E-4B11-B350-BC5A4068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3375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273"/>
          </a:solidFill>
          <a:ln xmlns:a="http://schemas.openxmlformats.org/drawingml/2006/main" w="0">
            <a:solidFill>
              <a:srgbClr val="59627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D764EA-C67E-4C94-869D-FCD46E11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47900"/>
            <a:ext cx="2286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026"/>
          </a:solidFill>
          <a:ln xmlns:a="http://schemas.openxmlformats.org/drawingml/2006/main" w="9525">
            <a:solidFill>
              <a:srgbClr val="343A4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36CB98-8F20-4B04-8527-F65FF531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47900"/>
            <a:ext cx="47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1FE8A1-AF39-4D77-87F2-0C81E1F5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81250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 / Planner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BB298B-79D6-4917-853E-9E661A51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86050"/>
            <a:ext cx="20193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EB5C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EB5C2"/>
                </a:solidFill>
                <a:latin typeface="Aptos"/>
                <a:ea typeface="Aptos"/>
                <a:cs typeface="Aptos"/>
              </a:rPr>
              <a:t>Kimi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8" b="0">
                <a:solidFill>
                  <a:srgbClr val="AEB5C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EB5C2"/>
                </a:solidFill>
                <a:latin typeface="Aptos"/>
                <a:ea typeface="Aptos"/>
                <a:cs typeface="Aptos"/>
              </a:rPr>
              <a:t>Input: selected sections + section links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8" b="0">
                <a:solidFill>
                  <a:srgbClr val="AEB5C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EB5C2"/>
                </a:solidFill>
                <a:latin typeface="Aptos"/>
                <a:ea typeface="Aptos"/>
                <a:cs typeface="Aptos"/>
              </a:rPr>
              <a:t>Output: ordered module sequence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9F685B-D722-4700-94D9-6D7BB8E1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3375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273"/>
          </a:solidFill>
          <a:ln xmlns:a="http://schemas.openxmlformats.org/drawingml/2006/main" w="0">
            <a:solidFill>
              <a:srgbClr val="59627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EDCE78-A223-4285-91FC-E571349B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2286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026"/>
          </a:solidFill>
          <a:ln xmlns:a="http://schemas.openxmlformats.org/drawingml/2006/main" w="9525">
            <a:solidFill>
              <a:srgbClr val="343A4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F69EEA-D393-4FBC-A91C-10CEC238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47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86293F-BF23-474F-8949-20BD63DE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 / Module design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B489A0-8F7C-47F2-88E8-D5EE26F8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86050"/>
            <a:ext cx="20193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EB5C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EB5C2"/>
                </a:solidFill>
                <a:latin typeface="Aptos"/>
                <a:ea typeface="Aptos"/>
                <a:cs typeface="Aptos"/>
              </a:rPr>
              <a:t>Kimi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8" b="0">
                <a:solidFill>
                  <a:srgbClr val="AEB5C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EB5C2"/>
                </a:solidFill>
                <a:latin typeface="Aptos"/>
                <a:ea typeface="Aptos"/>
                <a:cs typeface="Aptos"/>
              </a:rPr>
              <a:t>Input: module summaries + concepts + insights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8" b="0">
                <a:solidFill>
                  <a:srgbClr val="AEB5C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EB5C2"/>
                </a:solidFill>
                <a:latin typeface="Aptos"/>
                <a:ea typeface="Aptos"/>
                <a:cs typeface="Aptos"/>
              </a:rPr>
              <a:t>Output: lesson blocks, activity, MCQs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29D8FC-0DD8-4C4C-A459-B3F3D9BE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273"/>
          </a:solidFill>
          <a:ln xmlns:a="http://schemas.openxmlformats.org/drawingml/2006/main" w="0">
            <a:solidFill>
              <a:srgbClr val="59627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350652-7BAA-4035-BF77-A71BD62D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47900"/>
            <a:ext cx="2286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026"/>
          </a:solidFill>
          <a:ln xmlns:a="http://schemas.openxmlformats.org/drawingml/2006/main" w="9525">
            <a:solidFill>
              <a:srgbClr val="343A4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590DEB-3FDE-42D5-8924-80BDD300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47900"/>
            <a:ext cx="47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AE8"/>
          </a:solidFill>
          <a:ln xmlns:a="http://schemas.openxmlformats.org/drawingml/2006/main" w="0">
            <a:solidFill>
              <a:srgbClr val="6F5A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2853C8-7708-474E-B618-DC97AA17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81250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 / Insight reconcile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B174D3-B030-492F-8AE2-49394C28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86050"/>
            <a:ext cx="20193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EB5C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EB5C2"/>
                </a:solidFill>
                <a:latin typeface="Aptos"/>
                <a:ea typeface="Aptos"/>
                <a:cs typeface="Aptos"/>
              </a:rPr>
              <a:t>Kimi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8" b="0">
                <a:solidFill>
                  <a:srgbClr val="AEB5C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EB5C2"/>
                </a:solidFill>
                <a:latin typeface="Aptos"/>
                <a:ea typeface="Aptos"/>
                <a:cs typeface="Aptos"/>
              </a:rPr>
              <a:t>Input: answers + scoring + prior insight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8" b="0">
                <a:solidFill>
                  <a:srgbClr val="AEB5C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EB5C2"/>
                </a:solidFill>
                <a:latin typeface="Aptos"/>
                <a:ea typeface="Aptos"/>
                <a:cs typeface="Aptos"/>
              </a:rPr>
              <a:t>Output: latest section understanding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2541CC-AD51-45E6-8FBA-44D15C00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Why it scales: planner calls stay compact; module calls run lazily; checkpoint insight calls only run after assessment evidence exists.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B7AF83-086F-472A-9BD6-751E9ADD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96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96A3"/>
                </a:solidFill>
                <a:latin typeface="Aptos"/>
                <a:ea typeface="Aptos"/>
                <a:cs typeface="Aptos"/>
              </a:rPr>
              <a:t>AI Curriculum Creator / 05</a:t>
            </a:r>
          </a:p>
        </p:txBody>
      </p:sp>
    </p:spTree>
    <p:extLst>
      <p:ext uri="{BB962C8B-B14F-4D97-AF65-F5344CB8AC3E}">
        <p14:creationId xmlns:p14="http://schemas.microsoft.com/office/powerpoint/2010/main" val="29036159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D8FFBD-AF73-42DF-A429-06C4AC46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91EA40-A2DD-4C7A-8FEB-6E473DAE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PLANNER PACKET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55AC34-D32B-4DDE-B0C3-1BDF0F15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838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316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1316"/>
                </a:solidFill>
                <a:latin typeface="Aptos Display"/>
                <a:ea typeface="Aptos Display"/>
                <a:cs typeface="Aptos Display"/>
              </a:rPr>
              <a:t>The first LLM receives ordering evidence, not the entire knowledge graph.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DF3C2-8084-4739-804F-564A6F68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Planner inputs are deliberately slim: sections, hard links, optional link buckets, and policy. Concepts move to module design.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9C292-1CDC-4F5C-91F5-DE7AE490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4953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16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B4D868-7952-4D1F-84A2-4E5A6721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Included in planner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686B68-DB7C-496C-9F51-24AAF1E6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2098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Reason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B8A8AE-0256-42BD-B81F-56CB137A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4953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CC8A37-DA31-43FA-B2D7-91085413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2131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21316"/>
                </a:solidFill>
                <a:latin typeface="Aptos"/>
                <a:ea typeface="Aptos"/>
                <a:cs typeface="Aptos"/>
              </a:rPr>
              <a:t>sections_by_id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F4DDEA-C8B8-4B7D-9372-5BDA5146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6670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Titles and summaries give the planner semantic units.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BCCBC8-2B75-4DA3-882E-2E215FD5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4953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4BC6C-20C3-496A-958C-8F608F2C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2131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21316"/>
                </a:solidFill>
                <a:latin typeface="Aptos"/>
                <a:ea typeface="Aptos"/>
                <a:cs typeface="Aptos"/>
              </a:rPr>
              <a:t>main_path_section_ids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ACDD69-4DEE-4E4D-8680-65D16DEF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1242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Controls what can become required modules.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5B94E8-9663-4F93-A775-1526967C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4953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2A4ADE-77ED-4C02-B9E8-DA137510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2131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21316"/>
                </a:solidFill>
                <a:latin typeface="Aptos"/>
                <a:ea typeface="Aptos"/>
                <a:cs typeface="Aptos"/>
              </a:rPr>
              <a:t>hard dependencies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E0FA48-1B65-419E-90E4-7DA49023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5814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Defines mandatory ordering.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CA7BB8-9516-4E1A-84D8-B46451C8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24300"/>
            <a:ext cx="4953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8B8CD1-480B-4C25-885B-CBEA8759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2131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21316"/>
                </a:solidFill>
                <a:latin typeface="Aptos"/>
                <a:ea typeface="Aptos"/>
                <a:cs typeface="Aptos"/>
              </a:rPr>
              <a:t>optional links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392C63-D081-4D26-8983-B34317FA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386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Supports “alongside / reinforce / next” recommendations.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1D3D08-8774-4545-8229-CCDB91E5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4953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F6ACF7-5C27-4E9F-BB90-7D700DA2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958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2131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21316"/>
                </a:solidFill>
                <a:latin typeface="Aptos"/>
                <a:ea typeface="Aptos"/>
                <a:cs typeface="Aptos"/>
              </a:rPr>
              <a:t>relationship_policy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A444E6-5C88-420A-99D8-48A1CB0F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4958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Prevents optional links from becoming prerequisites.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869695-1E5D-4AC7-A66F-A7C465DD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95500"/>
            <a:ext cx="4953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16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4C2BAC-1122-4AC0-8F0F-8F62330A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098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Excluded from planner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24E95C-FE85-45E4-A1D1-6EE9FAC0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Reason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53CDFF-CAEE-47E3-A6D9-2615B0EE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52700"/>
            <a:ext cx="4953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A8FA6E-EA0C-4E0B-B030-6153C148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670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2131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21316"/>
                </a:solidFill>
                <a:latin typeface="Aptos"/>
                <a:ea typeface="Aptos"/>
                <a:cs typeface="Aptos"/>
              </a:rPr>
              <a:t>full source text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01C29C-1EC5-4BE9-B3C6-73798FF3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670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Fetched later by ID only when needed.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39121E-858C-43AF-8CA1-8AA06EF5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09900"/>
            <a:ext cx="4953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687793-C33D-464D-B61A-0EECB6AA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242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2131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21316"/>
                </a:solidFill>
                <a:latin typeface="Aptos"/>
                <a:ea typeface="Aptos"/>
                <a:cs typeface="Aptos"/>
              </a:rPr>
              <a:t>bulk concepts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AED757-AAF9-4A9F-A19C-55ED201B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242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Derived backend-side for each module.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5D5747-DE7A-4EA5-A9C1-2C1CE1AF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67100"/>
            <a:ext cx="4953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BFA560-44A2-42A9-8953-41FAC36C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814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2131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21316"/>
                </a:solidFill>
                <a:latin typeface="Aptos"/>
                <a:ea typeface="Aptos"/>
                <a:cs typeface="Aptos"/>
              </a:rPr>
              <a:t>old learner insight history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940D08-B4B4-4F65-BDC1-6BA54582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814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Only latest section insight matters.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738544-2089-4CEB-846F-88F871A8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24300"/>
            <a:ext cx="4953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8DCD7C-7556-48D6-ABAA-22EE3B6B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386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2131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21316"/>
                </a:solidFill>
                <a:latin typeface="Aptos"/>
                <a:ea typeface="Aptos"/>
                <a:cs typeface="Aptos"/>
              </a:rPr>
              <a:t>raw artifact dumps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0C6A87-5FF4-471D-AA34-D2BE62FD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386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Too large and easy for LLMs to misuse.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36974F-5075-4FE0-8CE5-843DDEEF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1970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9"/>
          </a:solidFill>
          <a:ln xmlns:a="http://schemas.openxmlformats.org/drawingml/2006/main" w="9525">
            <a:solidFill>
              <a:srgbClr val="C6D6F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EC5AA3-A8A4-4922-B424-BAB92332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1970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75F821A-CAC4-4005-BA80-2A6B37D2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353050"/>
            <a:ext cx="697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3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316"/>
                </a:solidFill>
                <a:latin typeface="Aptos"/>
                <a:ea typeface="Aptos"/>
                <a:cs typeface="Aptos"/>
              </a:rPr>
              <a:t>Lost-in-the-middle control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E4BAC3-039E-4211-8D03-48F55BB7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657850"/>
            <a:ext cx="6972300" cy="-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Large packet sits in the middle; final task, rules, and JSON schema appear at the end of the prompt.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8BE822D-E82B-454C-BBE0-6C9AE4CC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B948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B9488"/>
                </a:solidFill>
                <a:latin typeface="Aptos"/>
                <a:ea typeface="Aptos"/>
                <a:cs typeface="Aptos"/>
              </a:rPr>
              <a:t>AI Curriculum Creator / 06</a:t>
            </a:r>
          </a:p>
        </p:txBody>
      </p:sp>
    </p:spTree>
    <p:extLst>
      <p:ext uri="{BB962C8B-B14F-4D97-AF65-F5344CB8AC3E}">
        <p14:creationId xmlns:p14="http://schemas.microsoft.com/office/powerpoint/2010/main" val="102426731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FC771E-FD11-4D97-A3CE-BF79DA2F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AE8B4-0A55-46B0-B486-C33A56F3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RUNTIME PERSISTENCE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511EE-9D01-4C5A-9355-502FA681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838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316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1316"/>
                </a:solidFill>
                <a:latin typeface="Aptos Display"/>
                <a:ea typeface="Aptos Display"/>
                <a:cs typeface="Aptos Display"/>
              </a:rPr>
              <a:t>Supabase stores learning state; packaged artifacts store curriculum truth.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2E9867-9393-4247-B2B3-DEED441D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The split keeps source artifacts auditable while learner-owned state stays durable and scoped by authenticated user ID.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554FAD-1E83-43F0-9E23-0BC3855A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266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BCD90-BB63-4E4D-9FE1-B745B4D0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061E0B-574B-4B71-8ACB-8E84B521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2400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3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316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539F90-FD85-416A-B1F7-C11C6901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2400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user_profiles</a:t>
            </a:r>
          </a:p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learners</a:t>
            </a:r>
          </a:p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role = learner/admin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84BC5-2883-455A-8BE2-F5D5ACE6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431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75ACED-312A-4EA8-ADD5-D00489D6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431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E0659F-7795-46B8-BF51-724CEEC3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76450"/>
            <a:ext cx="2590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3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316"/>
                </a:solidFill>
                <a:latin typeface="Aptos"/>
                <a:ea typeface="Aptos"/>
                <a:cs typeface="Aptos"/>
              </a:rPr>
              <a:t>Plans + modules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7FA858-43DA-43B6-B018-5DF042F0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81250"/>
            <a:ext cx="2590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curriculum_plans</a:t>
            </a:r>
          </a:p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curriculum_modules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EB4839-03B4-403F-BE33-B84AE34C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861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0184A1-A512-442D-86D4-A56D67FF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861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565165-8BA1-47B7-8B84-89F2DA2B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19450"/>
            <a:ext cx="2590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3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316"/>
                </a:solidFill>
                <a:latin typeface="Aptos"/>
                <a:ea typeface="Aptos"/>
                <a:cs typeface="Aptos"/>
              </a:rPr>
              <a:t>Module designs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884D98-B2E4-4332-97F7-2B77AEA9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24250"/>
            <a:ext cx="2590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module_designs</a:t>
            </a:r>
          </a:p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module_design_versions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754975-ED42-43E6-8427-DF8687B7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291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9E3230-8527-48EB-BBE3-29841040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291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E4E"/>
          </a:solidFill>
          <a:ln xmlns:a="http://schemas.openxmlformats.org/drawingml/2006/main" w="0">
            <a:solidFill>
              <a:srgbClr val="D84E4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E80CC6-81B0-4A69-821E-7C4A1574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62450"/>
            <a:ext cx="2590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3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316"/>
                </a:solidFill>
                <a:latin typeface="Aptos"/>
                <a:ea typeface="Aptos"/>
                <a:cs typeface="Aptos"/>
              </a:rPr>
              <a:t>Checkpoint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F00D4D-ACE5-44F4-A622-BFBE6AC0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667250"/>
            <a:ext cx="2590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checkpoint_attempts</a:t>
            </a:r>
          </a:p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checkpoint_answers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8E2D64-630C-490D-A095-9980A3DE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47900"/>
            <a:ext cx="2667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392B59-CB3D-43C4-8394-44BCF2FF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479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AE8"/>
          </a:solidFill>
          <a:ln xmlns:a="http://schemas.openxmlformats.org/drawingml/2006/main" w="0">
            <a:solidFill>
              <a:srgbClr val="6F5A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9A8A99-D417-43A8-A599-2BD07AF0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81250"/>
            <a:ext cx="2400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3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316"/>
                </a:solidFill>
                <a:latin typeface="Aptos"/>
                <a:ea typeface="Aptos"/>
                <a:cs typeface="Aptos"/>
              </a:rPr>
              <a:t>Personalization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AF05AD-E7DB-4CAE-9141-9E36C5D1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86050"/>
            <a:ext cx="2400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section_learning_insights</a:t>
            </a:r>
          </a:p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latest unique index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3D4554-1AB6-404A-AEB4-664F9001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52850"/>
            <a:ext cx="2667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FA142E-6634-4228-8A47-D83C4A12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528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41E9A4-BE62-4C25-BDEF-09CAF84A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86200"/>
            <a:ext cx="2400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3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316"/>
                </a:solidFill>
                <a:latin typeface="Aptos"/>
                <a:ea typeface="Aptos"/>
                <a:cs typeface="Aptos"/>
              </a:rPr>
              <a:t>Population overlays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48B37D-3740-49A8-8A1F-9371756E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191000"/>
            <a:ext cx="2400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section_misunderstanding_hotspots</a:t>
            </a:r>
          </a:p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active reviewed guidance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8E962D-1557-4298-9F6D-848F2366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33675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FA874A-5959-4F28-A93B-58B4545D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00350"/>
            <a:ext cx="190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9558B7-353B-4720-82FE-7B66830E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657725"/>
            <a:ext cx="1181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C22755-2616-4A37-9CB5-2E4C0BC1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14725"/>
            <a:ext cx="1181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506141-A7FC-40FD-92EC-1123372A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62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97FEAC-2E63-4339-AA98-253A3021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05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C3A181-E9D4-4C36-BB1F-07939741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048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4E4E"/>
          </a:solidFill>
          <a:ln xmlns:a="http://schemas.openxmlformats.org/drawingml/2006/main" w="0">
            <a:solidFill>
              <a:srgbClr val="D84E4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3F733D-E0FA-41BA-81C8-10C7658F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B948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B9488"/>
                </a:solidFill>
                <a:latin typeface="Aptos"/>
                <a:ea typeface="Aptos"/>
                <a:cs typeface="Aptos"/>
              </a:rPr>
              <a:t>AI Curriculum Creator / 07</a:t>
            </a:r>
          </a:p>
        </p:txBody>
      </p:sp>
    </p:spTree>
    <p:extLst>
      <p:ext uri="{BB962C8B-B14F-4D97-AF65-F5344CB8AC3E}">
        <p14:creationId xmlns:p14="http://schemas.microsoft.com/office/powerpoint/2010/main" val="165258844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86BB83-1E09-4E7E-B072-6C07E52E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79352A-B678-4248-A6EB-11F122E1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PERSONALIZATION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D5782-9BDF-4442-8DCA-66363FD3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838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316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1316"/>
                </a:solidFill>
                <a:latin typeface="Aptos Display"/>
                <a:ea typeface="Aptos Display"/>
                <a:cs typeface="Aptos Display"/>
              </a:rPr>
              <a:t>Checkpoint MCQs become section-level memory that changes future module design.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5D48E-EBCB-4C56-AF61-49882CCB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The system does not personalize from vague chat history; it personalizes from answer evidence mapped to section and concept IDs.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72435C-FC4F-4A1B-AAE6-01EE7447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7335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B5A36A-C9F9-4C81-B82A-72CC334A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1FB239-A1E5-44AF-AD0B-DF7A47CE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3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316"/>
                </a:solidFill>
                <a:latin typeface="Aptos"/>
                <a:ea typeface="Aptos"/>
                <a:cs typeface="Aptos"/>
              </a:rPr>
              <a:t>Designed module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E04F0B-DE30-4273-9ED0-C3D65984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lesson blocks + guided activity + MCQs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D97477-D327-4CF6-B49F-0CBBF367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00400"/>
            <a:ext cx="17335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C2493B-775E-4DFB-A866-E7DA5A14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0040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B1E0B4-85A0-45EC-9342-F357AA86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337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3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316"/>
                </a:solidFill>
                <a:latin typeface="Aptos"/>
                <a:ea typeface="Aptos"/>
                <a:cs typeface="Aptos"/>
              </a:rPr>
              <a:t>Checkpoint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4F4D5B-F450-4A81-9287-2BCBADF1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3855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selected options with source section IDs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5450F1-0991-4069-A18E-09001216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57450"/>
            <a:ext cx="17335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DCB25E-A744-42EF-9C9D-759F08BC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5745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3F39CE-BDF2-4391-8FD6-07B0CED9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908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3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316"/>
                </a:solidFill>
                <a:latin typeface="Aptos"/>
                <a:ea typeface="Aptos"/>
                <a:cs typeface="Aptos"/>
              </a:rPr>
              <a:t>Deterministic scoring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C9AA84-9113-4942-A0FF-43383E27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9560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correctness, weak areas, recommendation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F71D43-481E-4110-8280-A8FD58A6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00400"/>
            <a:ext cx="17335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A143FA-951A-4E12-9A0D-D01BBCB4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0040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AE8"/>
          </a:solidFill>
          <a:ln xmlns:a="http://schemas.openxmlformats.org/drawingml/2006/main" w="0">
            <a:solidFill>
              <a:srgbClr val="6F5A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026697-B483-4408-BE6E-7E28C6E5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337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3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316"/>
                </a:solidFill>
                <a:latin typeface="Aptos"/>
                <a:ea typeface="Aptos"/>
                <a:cs typeface="Aptos"/>
              </a:rPr>
              <a:t>LLM reconciliation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BECDF0-2F46-4B52-ADCA-3547F181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3855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latest insight per tested section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C101EE-C545-4D60-96E9-0295C83D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57450"/>
            <a:ext cx="17335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8A8A31-04C1-4A2F-88E8-EF6700FC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5745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E4E"/>
          </a:solidFill>
          <a:ln xmlns:a="http://schemas.openxmlformats.org/drawingml/2006/main" w="0">
            <a:solidFill>
              <a:srgbClr val="D84E4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976C7E-A033-4C9B-9928-6A8764E4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908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3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316"/>
                </a:solidFill>
                <a:latin typeface="Aptos"/>
                <a:ea typeface="Aptos"/>
                <a:cs typeface="Aptos"/>
              </a:rPr>
              <a:t>Regenerated module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ED5EFD-823E-425C-91D9-14556A6F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9560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uses latest insight + active hotspot guidance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63D9FD-50FB-403E-AFAB-5F9B0CE4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981325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9AB22F-F919-4D38-96ED-8AA2C3FB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24275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5D8B7C-C60C-46CB-B643-CD8D7DB3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81325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184796-FB5D-41AC-8B99-0C56F3A0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24275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6041AD-E74A-46BA-A65D-0A1C5988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429000"/>
            <a:ext cx="190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D8B8AA-A80B-4A7E-8A7C-E2C288E5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9534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49B5AA-72B2-413B-AC57-D80E9521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486150"/>
            <a:ext cx="190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F91EA0-79D0-4840-8A3F-32B987BA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38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B9043D-BDDA-4852-9DB0-AA13200B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3381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4E4E"/>
          </a:solidFill>
          <a:ln xmlns:a="http://schemas.openxmlformats.org/drawingml/2006/main" w="0">
            <a:solidFill>
              <a:srgbClr val="D84E4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B23183-C88E-4C62-A1CF-103AED46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2578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9"/>
          </a:solidFill>
          <a:ln xmlns:a="http://schemas.openxmlformats.org/drawingml/2006/main" w="0">
            <a:solidFill>
              <a:srgbClr val="E7EEF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E09C4F-A089-48C7-9F14-EB713A1B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32447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latest insight only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C2C3AD-C83D-49DC-B9FE-A8385191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578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EC"/>
          </a:solidFill>
          <a:ln xmlns:a="http://schemas.openxmlformats.org/drawingml/2006/main" w="0">
            <a:solidFill>
              <a:srgbClr val="E6F3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A5D8D1-18F2-49D0-947A-1F7D7B21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24475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6A06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6A06A"/>
                </a:solidFill>
                <a:latin typeface="Aptos"/>
                <a:ea typeface="Aptos"/>
                <a:cs typeface="Aptos"/>
              </a:rPr>
              <a:t>history preserved, not prompted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8228F8-9045-4040-89CC-61DCB46F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2578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8D4"/>
          </a:solidFill>
          <a:ln xmlns:a="http://schemas.openxmlformats.org/drawingml/2006/main" w="0">
            <a:solidFill>
              <a:srgbClr val="F6E8D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22FDBA-8823-4C72-A856-17D47860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324475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D98622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D98622"/>
                </a:solidFill>
                <a:latin typeface="Aptos"/>
                <a:ea typeface="Aptos"/>
                <a:cs typeface="Aptos"/>
              </a:rPr>
              <a:t>hotspots reviewed before use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05F966-AA58-4AEB-9931-1BCCDECA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B948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B9488"/>
                </a:solidFill>
                <a:latin typeface="Aptos"/>
                <a:ea typeface="Aptos"/>
                <a:cs typeface="Aptos"/>
              </a:rPr>
              <a:t>AI Curriculum Creator / 08</a:t>
            </a:r>
          </a:p>
        </p:txBody>
      </p:sp>
    </p:spTree>
    <p:extLst>
      <p:ext uri="{BB962C8B-B14F-4D97-AF65-F5344CB8AC3E}">
        <p14:creationId xmlns:p14="http://schemas.microsoft.com/office/powerpoint/2010/main" val="114287442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43595F-CC70-4765-966E-95AFD2B1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316"/>
          </a:solidFill>
          <a:ln xmlns:a="http://schemas.openxmlformats.org/drawingml/2006/main" w="0">
            <a:solidFill>
              <a:srgbClr val="12131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1FE6E0-C6E8-4A40-927C-593C4222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SCALE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58C2E5-A058-4E48-AFC9-849EB5E3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838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scaling strategy is to cap context, cache public work, and persist expensive LLM outputs.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D63F52-8A7F-4768-A427-37C96B52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EB5C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5C2"/>
                </a:solidFill>
                <a:latin typeface="Aptos"/>
                <a:ea typeface="Aptos"/>
                <a:cs typeface="Aptos"/>
              </a:rPr>
              <a:t>Most scaling risks are not CPU-bound; they are provider latency, token cost, retrieval noise, and database growth.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D2284-DA6E-4BFC-BE65-206DE701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2952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026"/>
          </a:solidFill>
          <a:ln xmlns:a="http://schemas.openxmlformats.org/drawingml/2006/main" w="9525">
            <a:solidFill>
              <a:srgbClr val="33394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DA4729-428F-494D-8D6E-31814AF0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DFC730-5894-49A5-B7C2-7DCA9E20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Context caps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63179-7702-4149-9E72-8734BE6F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EB5C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EB5C2"/>
                </a:solidFill>
                <a:latin typeface="Aptos"/>
                <a:ea typeface="Aptos"/>
                <a:cs typeface="Aptos"/>
              </a:rPr>
              <a:t>≤ 6 target sections, optional buckets capped separately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7A0362-6BA8-4C61-8D50-742ECD4C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28850"/>
            <a:ext cx="2952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026"/>
          </a:solidFill>
          <a:ln xmlns:a="http://schemas.openxmlformats.org/drawingml/2006/main" w="9525">
            <a:solidFill>
              <a:srgbClr val="33394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00DB5-EEF0-4EAD-A68C-DB65440A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288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4F81A0-D8CB-4441-96F7-969414A8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622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Public cache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10C046-0D3B-4EDF-89A6-0A66FEE4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6700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EB5C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EB5C2"/>
                </a:solidFill>
                <a:latin typeface="Aptos"/>
                <a:ea typeface="Aptos"/>
                <a:cs typeface="Aptos"/>
              </a:rPr>
              <a:t>intent, retrieval preview, guest plan templates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5CF6D6-0E38-42D8-9021-AE7A9E82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28850"/>
            <a:ext cx="2952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026"/>
          </a:solidFill>
          <a:ln xmlns:a="http://schemas.openxmlformats.org/drawingml/2006/main" w="9525">
            <a:solidFill>
              <a:srgbClr val="33394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5B09EC-8B5E-4DC4-BE8A-10B9354E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288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AE8"/>
          </a:solidFill>
          <a:ln xmlns:a="http://schemas.openxmlformats.org/drawingml/2006/main" w="0">
            <a:solidFill>
              <a:srgbClr val="6F5A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3AC46F-7101-4526-8196-4DEE432B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pgvector index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D79602-AA6D-4C81-BB69-1ED6D09D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6700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EB5C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EB5C2"/>
                </a:solidFill>
                <a:latin typeface="Aptos"/>
                <a:ea typeface="Aptos"/>
                <a:cs typeface="Aptos"/>
              </a:rPr>
              <a:t>HNSW cosine vector index + subject/grade filter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68B1A1-AC5A-43ED-A82F-7ACE50A6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2952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026"/>
          </a:solidFill>
          <a:ln xmlns:a="http://schemas.openxmlformats.org/drawingml/2006/main" w="9525">
            <a:solidFill>
              <a:srgbClr val="33394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385AE9-5B28-44FB-9E83-8C43EA3A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5992B4-154D-43C2-8E0B-67C6B62B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Persisted designs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6DF7C4-6410-4742-87E4-852BE15D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EB5C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EB5C2"/>
                </a:solidFill>
                <a:latin typeface="Aptos"/>
                <a:ea typeface="Aptos"/>
                <a:cs typeface="Aptos"/>
              </a:rPr>
              <a:t>module design reused unless force_regenerate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2809D6-130F-4A49-87B9-00149D0C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57600"/>
            <a:ext cx="2952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026"/>
          </a:solidFill>
          <a:ln xmlns:a="http://schemas.openxmlformats.org/drawingml/2006/main" w="9525">
            <a:solidFill>
              <a:srgbClr val="33394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263DF0-A30B-425E-82D8-22E37C43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576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E4E"/>
          </a:solidFill>
          <a:ln xmlns:a="http://schemas.openxmlformats.org/drawingml/2006/main" w="0">
            <a:solidFill>
              <a:srgbClr val="D84E4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91B297-B248-4D52-8A6F-F4E2D0E0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9095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Validation gates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8ADA72-7D74-4B0A-8DC4-8BD0F810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957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EB5C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EB5C2"/>
                </a:solidFill>
                <a:latin typeface="Aptos"/>
                <a:ea typeface="Aptos"/>
                <a:cs typeface="Aptos"/>
              </a:rPr>
              <a:t>schema parsing, ID checks, relationship gating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82F5B0-7353-4FE4-B2EE-CAC74AE5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57600"/>
            <a:ext cx="2952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026"/>
          </a:solidFill>
          <a:ln xmlns:a="http://schemas.openxmlformats.org/drawingml/2006/main" w="9525">
            <a:solidFill>
              <a:srgbClr val="33394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ABE762-D945-4F0E-965B-B9C683CF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576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48059E-E440-4912-858C-51BAD27E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9095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RLS + backend gateway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F64F75-76DC-41EE-BB95-7CD01C19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957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EB5C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EB5C2"/>
                </a:solidFill>
                <a:latin typeface="Aptos"/>
                <a:ea typeface="Aptos"/>
                <a:cs typeface="Aptos"/>
              </a:rPr>
              <a:t>browser cannot directly read app tables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A6C301-ED61-40B4-B796-F0BB3EC6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6FE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F6FED"/>
                </a:solidFill>
                <a:latin typeface="Aptos Display"/>
                <a:ea typeface="Aptos Display"/>
                <a:cs typeface="Aptos Display"/>
              </a:rPr>
              <a:t>p95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D0D204-2E42-4349-8540-0DE6971D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5C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5C2"/>
                </a:solidFill>
                <a:latin typeface="Aptos"/>
                <a:ea typeface="Aptos"/>
                <a:cs typeface="Aptos"/>
              </a:rPr>
              <a:t>latency by endpoint and provider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53BAF0-7371-4B7B-9EAA-470D4717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578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A06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A06A"/>
                </a:solidFill>
                <a:latin typeface="Aptos Display"/>
                <a:ea typeface="Aptos Display"/>
                <a:cs typeface="Aptos Display"/>
              </a:rPr>
              <a:t>$/plan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F8D01D-9947-473E-B01A-2822A9A4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7721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5C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5C2"/>
                </a:solidFill>
                <a:latin typeface="Aptos"/>
                <a:ea typeface="Aptos"/>
                <a:cs typeface="Aptos"/>
              </a:rPr>
              <a:t>LLM + embedding cost per curriculum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41EA70-0127-422E-8F1B-D65677E9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2578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86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D98622"/>
                </a:solidFill>
                <a:latin typeface="Aptos Display"/>
                <a:ea typeface="Aptos Display"/>
                <a:cs typeface="Aptos Display"/>
              </a:rPr>
              <a:t>hit%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683027-B1F6-421F-A663-11C54936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7721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5C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5C2"/>
                </a:solidFill>
                <a:latin typeface="Aptos"/>
                <a:ea typeface="Aptos"/>
                <a:cs typeface="Aptos"/>
              </a:rPr>
              <a:t>cache effectiveness by kind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8EA616-885B-4856-BAA7-08B89268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578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84E4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D84E4E"/>
                </a:solidFill>
                <a:latin typeface="Aptos Display"/>
                <a:ea typeface="Aptos Display"/>
                <a:cs typeface="Aptos Display"/>
              </a:rPr>
              <a:t>fail%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E81ED9-B017-478B-BA23-3D3DCE46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721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5C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5C2"/>
                </a:solidFill>
                <a:latin typeface="Aptos"/>
                <a:ea typeface="Aptos"/>
                <a:cs typeface="Aptos"/>
              </a:rPr>
              <a:t>schema/provider failure visibility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44D3CF-A0D1-4EDD-88D8-CE7D027A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96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96A3"/>
                </a:solidFill>
                <a:latin typeface="Aptos"/>
                <a:ea typeface="Aptos"/>
                <a:cs typeface="Aptos"/>
              </a:rPr>
              <a:t>AI Curriculum Creator / 09</a:t>
            </a:r>
          </a:p>
        </p:txBody>
      </p:sp>
    </p:spTree>
    <p:extLst>
      <p:ext uri="{BB962C8B-B14F-4D97-AF65-F5344CB8AC3E}">
        <p14:creationId xmlns:p14="http://schemas.microsoft.com/office/powerpoint/2010/main" val="134083502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A39C7D-4606-45B7-A0A1-C7F95E4D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B0BC9-E3B4-4F45-BC7B-3FBA2E4C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EVALUATION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138CA-E225-448D-9317-6BB9F196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838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316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1316"/>
                </a:solidFill>
                <a:latin typeface="Aptos Display"/>
                <a:ea typeface="Aptos Display"/>
                <a:cs typeface="Aptos Display"/>
              </a:rPr>
              <a:t>The next maturity jump is making every AI decision measurable.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F563E-05FC-4E6C-A773-4D4DF8A0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The agent should be judged at retrieval, planning, module design, personalization, and system-cost layers.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937E97-04DD-4603-9A69-FD43E58C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7526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80074E-97C0-426F-B289-BF8CDEB0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5C6FC-F21E-4A43-A711-0B0FA289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3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316"/>
                </a:solidFill>
                <a:latin typeface="Aptos"/>
                <a:ea typeface="Aptos"/>
                <a:cs typeface="Aptos"/>
              </a:rPr>
              <a:t>Retrieval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32C639-38D4-4B9F-A895-4759EEF2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1485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Recall@6</a:t>
            </a:r>
          </a:p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subject leakage</a:t>
            </a:r>
          </a:p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irrelevant section 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559692-E7A4-4AEC-B026-EB12DD05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52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DD138D-7333-46BA-A25B-B0078922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10100"/>
            <a:ext cx="1257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DD0D6C-B3BB-483F-B090-7365B46B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00300"/>
            <a:ext cx="17526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94B8F-B991-400C-A3FA-8FC3E55C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0030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8A3734-2909-4F3C-A1E5-ED510040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336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3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316"/>
                </a:solidFill>
                <a:latin typeface="Aptos"/>
                <a:ea typeface="Aptos"/>
                <a:cs typeface="Aptos"/>
              </a:rPr>
              <a:t>Planner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BF8E99-7A6D-4691-A785-0C0679B6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38450"/>
            <a:ext cx="1485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ordering correctness</a:t>
            </a:r>
          </a:p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invalid ID rate</a:t>
            </a:r>
          </a:p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module bloat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F34BFF-DFD6-4AFF-874A-CF9ECB02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552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C3ACD1-4FFD-4CE6-BDEE-F0E42E67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10100"/>
            <a:ext cx="1257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D0E58A-4556-437C-9448-225D32FA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00300"/>
            <a:ext cx="17526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D5B0F5-A2D0-42D2-A15E-8421145F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0030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72E884-8340-4E01-96E2-32DD55ED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336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3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316"/>
                </a:solidFill>
                <a:latin typeface="Aptos"/>
                <a:ea typeface="Aptos"/>
                <a:cs typeface="Aptos"/>
              </a:rPr>
              <a:t>Module design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CE952D-6799-43E0-9476-EB8D730C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38450"/>
            <a:ext cx="1485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MCQ validity</a:t>
            </a:r>
          </a:p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activity relevance</a:t>
            </a:r>
          </a:p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grounding failures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2A5BB8-6AA5-4AC9-B1B8-4F13699E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552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EC9FF9-BABA-4EBA-A956-5605350F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10100"/>
            <a:ext cx="1257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2E4065-2BB8-4796-9DB9-8FC138A7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00300"/>
            <a:ext cx="17526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775502-C855-49B5-92A7-B3BD3B32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0030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AE8"/>
          </a:solidFill>
          <a:ln xmlns:a="http://schemas.openxmlformats.org/drawingml/2006/main" w="0">
            <a:solidFill>
              <a:srgbClr val="6F5A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7EB65B-8FC0-4A60-A16C-672FD776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336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3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316"/>
                </a:solidFill>
                <a:latin typeface="Aptos"/>
                <a:ea typeface="Aptos"/>
                <a:cs typeface="Aptos"/>
              </a:rPr>
              <a:t>Learning loop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9D72AE-2C86-4AE7-AEAC-114F5D21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38450"/>
            <a:ext cx="1485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insight accuracy</a:t>
            </a:r>
          </a:p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remediation success</a:t>
            </a:r>
          </a:p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hotspot precision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77364A-9449-4CD4-9F6C-B1974D51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52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5AE8"/>
          </a:solidFill>
          <a:ln xmlns:a="http://schemas.openxmlformats.org/drawingml/2006/main" w="0">
            <a:solidFill>
              <a:srgbClr val="6F5A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590017-F722-4CA0-A0C7-DA7AC790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10100"/>
            <a:ext cx="1257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7C0C75-237F-4C4C-AD90-D122A8E9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00300"/>
            <a:ext cx="17526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DD8A50-FCDD-49BD-A462-5739DAA9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0030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E4E"/>
          </a:solidFill>
          <a:ln xmlns:a="http://schemas.openxmlformats.org/drawingml/2006/main" w="0">
            <a:solidFill>
              <a:srgbClr val="D84E4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65DA5E-BD53-4B52-8442-CA635EE0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336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3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316"/>
                </a:solidFill>
                <a:latin typeface="Aptos"/>
                <a:ea typeface="Aptos"/>
                <a:cs typeface="Aptos"/>
              </a:rPr>
              <a:t>System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016C77-73E0-4A7C-8B97-34C927F1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38450"/>
            <a:ext cx="1485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p95 latency</a:t>
            </a:r>
          </a:p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cache hit rate</a:t>
            </a:r>
          </a:p>
          <a:p xmlns:a="http://schemas.openxmlformats.org/drawingml/2006/main">
            <a:pPr algn="l">
              <a:defRPr sz="938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LLM cost per plan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3F92F3-3CCD-42BC-89A6-89D8D67A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552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4E4E"/>
          </a:solidFill>
          <a:ln xmlns:a="http://schemas.openxmlformats.org/drawingml/2006/main" w="0">
            <a:solidFill>
              <a:srgbClr val="D84E4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36B355-76C3-49F4-87C0-18C9E3BF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19700"/>
            <a:ext cx="876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131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21316"/>
                </a:solidFill>
                <a:latin typeface="Aptos Display"/>
                <a:ea typeface="Aptos Display"/>
                <a:cs typeface="Aptos Display"/>
              </a:rPr>
              <a:t>Practical evaluation set: 30–50 golden queries across Physics, Chemistry, and Biology, each with expected sections and forbidden sections.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7B01F4-4470-4344-BDA7-695B59F7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B948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B9488"/>
                </a:solidFill>
                <a:latin typeface="Aptos"/>
                <a:ea typeface="Aptos"/>
                <a:cs typeface="Aptos"/>
              </a:rPr>
              <a:t>AI Curriculum Creator / 10</a:t>
            </a:r>
          </a:p>
        </p:txBody>
      </p:sp>
    </p:spTree>
    <p:extLst>
      <p:ext uri="{BB962C8B-B14F-4D97-AF65-F5344CB8AC3E}">
        <p14:creationId xmlns:p14="http://schemas.microsoft.com/office/powerpoint/2010/main" val="16639999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2026-06-07T17:22:34.7480000Z</dcterms:created>
  <dcterms:modified xsi:type="dcterms:W3CDTF">2026-06-07T17:22:34.7480000Z</dcterms:modified>
</coreProperties>
</file>