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c6460024fc42be" /><Relationship Type="http://schemas.openxmlformats.org/officeDocument/2006/relationships/extended-properties" Target="/docProps/app.xml" Id="R2174ccc5203d4048" /><Relationship Type="http://schemas.openxmlformats.org/officeDocument/2006/relationships/officeDocument" Target="/ppt/presentation.xml" Id="Rea3897b77ff840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4e47709a34945"/>
  </p:sldMasterIdLst>
  <p:notesMasterIdLst>
    <p:notesMasterId xmlns:r="http://schemas.openxmlformats.org/officeDocument/2006/relationships" r:id="R05b16a48f21b4a26"/>
  </p:notesMasterIdLst>
  <p:sldIdLst>
    <p:sldId xmlns:r="http://schemas.openxmlformats.org/officeDocument/2006/relationships" id="256" r:id="R5e37b3a1cfa549e4"/>
    <p:sldId xmlns:r="http://schemas.openxmlformats.org/officeDocument/2006/relationships" id="257" r:id="Reca2e399cc234dd3"/>
    <p:sldId xmlns:r="http://schemas.openxmlformats.org/officeDocument/2006/relationships" id="258" r:id="Ra4a5e8ee213b42d4"/>
    <p:sldId xmlns:r="http://schemas.openxmlformats.org/officeDocument/2006/relationships" id="259" r:id="R225e930b0e9749c0"/>
    <p:sldId xmlns:r="http://schemas.openxmlformats.org/officeDocument/2006/relationships" id="260" r:id="Rd25155c93bee4be9"/>
    <p:sldId xmlns:r="http://schemas.openxmlformats.org/officeDocument/2006/relationships" id="261" r:id="Re5dd000ffcf84155"/>
    <p:sldId xmlns:r="http://schemas.openxmlformats.org/officeDocument/2006/relationships" id="262" r:id="R5b0304bd796847bd"/>
    <p:sldId xmlns:r="http://schemas.openxmlformats.org/officeDocument/2006/relationships" id="263" r:id="R5f3d47bcaf46441b"/>
    <p:sldId xmlns:r="http://schemas.openxmlformats.org/officeDocument/2006/relationships" id="264" r:id="Re1c3996cab434e7f"/>
    <p:sldId xmlns:r="http://schemas.openxmlformats.org/officeDocument/2006/relationships" id="265" r:id="R51c984e60a8d44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70558caf764d09" /><Relationship Type="http://schemas.openxmlformats.org/officeDocument/2006/relationships/slideMaster" Target="/ppt/slideMasters/slideMaster1.xml" Id="R0b94e47709a34945" /><Relationship Type="http://schemas.openxmlformats.org/officeDocument/2006/relationships/notesMaster" Target="/ppt/notesMasters/notesMaster1.xml" Id="R05b16a48f21b4a26" /><Relationship Type="http://schemas.openxmlformats.org/officeDocument/2006/relationships/presProps" Target="/ppt/presProps.xml" Id="R5c476875871f4bf2" /><Relationship Type="http://schemas.openxmlformats.org/officeDocument/2006/relationships/viewProps" Target="/ppt/viewProps.xml" Id="Rb146f1e42b734589" /><Relationship Type="http://schemas.openxmlformats.org/officeDocument/2006/relationships/tableStyles" Target="/ppt/tableStyles.xml" Id="R581b20b56eb24819" /><Relationship Type="http://schemas.openxmlformats.org/officeDocument/2006/relationships/slide" Target="/ppt/slides/slide1.xml" Id="R5e37b3a1cfa549e4" /><Relationship Type="http://schemas.openxmlformats.org/officeDocument/2006/relationships/slide" Target="/ppt/slides/slide2.xml" Id="Reca2e399cc234dd3" /><Relationship Type="http://schemas.openxmlformats.org/officeDocument/2006/relationships/slide" Target="/ppt/slides/slide3.xml" Id="Ra4a5e8ee213b42d4" /><Relationship Type="http://schemas.openxmlformats.org/officeDocument/2006/relationships/slide" Target="/ppt/slides/slide4.xml" Id="R225e930b0e9749c0" /><Relationship Type="http://schemas.openxmlformats.org/officeDocument/2006/relationships/slide" Target="/ppt/slides/slide5.xml" Id="Rd25155c93bee4be9" /><Relationship Type="http://schemas.openxmlformats.org/officeDocument/2006/relationships/slide" Target="/ppt/slides/slide6.xml" Id="Re5dd000ffcf84155" /><Relationship Type="http://schemas.openxmlformats.org/officeDocument/2006/relationships/slide" Target="/ppt/slides/slide7.xml" Id="R5b0304bd796847bd" /><Relationship Type="http://schemas.openxmlformats.org/officeDocument/2006/relationships/slide" Target="/ppt/slides/slide8.xml" Id="R5f3d47bcaf46441b" /><Relationship Type="http://schemas.openxmlformats.org/officeDocument/2006/relationships/slide" Target="/ppt/slides/slide9.xml" Id="Re1c3996cab434e7f" /><Relationship Type="http://schemas.openxmlformats.org/officeDocument/2006/relationships/slide" Target="/ppt/slides/slide10.xml" Id="R51c984e60a8d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c6c27d07ce4c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062377e4446c8" /><Relationship Type="http://schemas.openxmlformats.org/officeDocument/2006/relationships/notesMaster" Target="/ppt/notesMasters/notesMaster1.xml" Id="Re1c4b3128aee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7a862caa9c4984" /><Relationship Type="http://schemas.openxmlformats.org/officeDocument/2006/relationships/notesMaster" Target="/ppt/notesMasters/notesMaster1.xml" Id="R19ef66ae145e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929ed3dfb54a50" /><Relationship Type="http://schemas.openxmlformats.org/officeDocument/2006/relationships/notesMaster" Target="/ppt/notesMasters/notesMaster1.xml" Id="Rd7205965d38e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d5b474b80a4266" /><Relationship Type="http://schemas.openxmlformats.org/officeDocument/2006/relationships/notesMaster" Target="/ppt/notesMasters/notesMaster1.xml" Id="Ra26186b9b6134e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e04426f624405" /><Relationship Type="http://schemas.openxmlformats.org/officeDocument/2006/relationships/notesMaster" Target="/ppt/notesMasters/notesMaster1.xml" Id="R23e9ed9de6bc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d85a91199641a6" /><Relationship Type="http://schemas.openxmlformats.org/officeDocument/2006/relationships/notesMaster" Target="/ppt/notesMasters/notesMaster1.xml" Id="R82ec92b1e20e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53e3156beb4104" /><Relationship Type="http://schemas.openxmlformats.org/officeDocument/2006/relationships/notesMaster" Target="/ppt/notesMasters/notesMaster1.xml" Id="Ra5aa1254937548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cc60057745451a" /><Relationship Type="http://schemas.openxmlformats.org/officeDocument/2006/relationships/notesMaster" Target="/ppt/notesMasters/notesMaster1.xml" Id="R100383d959a448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5ec22d9c9c4482" /><Relationship Type="http://schemas.openxmlformats.org/officeDocument/2006/relationships/notesMaster" Target="/ppt/notesMasters/notesMaster1.xml" Id="R9b4cad58e56549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eb3bb556b4bd6" /><Relationship Type="http://schemas.openxmlformats.org/officeDocument/2006/relationships/notesMaster" Target="/ppt/notesMasters/notesMaster1.xml" Id="R7d894054be52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04a4b36b544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5c45488de47b7" /><Relationship Type="http://schemas.openxmlformats.org/officeDocument/2006/relationships/slideLayout" Target="/ppt/slideLayouts/slideLayout1.xml" Id="R74b7efba240645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b7efba240645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f906b457f4d96" /><Relationship Type="http://schemas.openxmlformats.org/officeDocument/2006/relationships/notesSlide" Target="/ppt/notesSlides/notesSlide1.xml" Id="R81592d93d6e847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02267a5804a8e" /><Relationship Type="http://schemas.openxmlformats.org/officeDocument/2006/relationships/notesSlide" Target="/ppt/notesSlides/notesSlide2.xml" Id="R17b596dee63c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85fd96e734801" /><Relationship Type="http://schemas.openxmlformats.org/officeDocument/2006/relationships/notesSlide" Target="/ppt/notesSlides/notesSlide3.xml" Id="R1e4d9363079d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4e6e24ef4244" /><Relationship Type="http://schemas.openxmlformats.org/officeDocument/2006/relationships/notesSlide" Target="/ppt/notesSlides/notesSlide4.xml" Id="R8fe6adf1c9b845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8ad32bd864afc" /><Relationship Type="http://schemas.openxmlformats.org/officeDocument/2006/relationships/notesSlide" Target="/ppt/notesSlides/notesSlide5.xml" Id="Rd6f7badeabcb4e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53e4eb3f04ddc" /><Relationship Type="http://schemas.openxmlformats.org/officeDocument/2006/relationships/notesSlide" Target="/ppt/notesSlides/notesSlide6.xml" Id="Re1ad0bedbb074a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7b153b854f18" /><Relationship Type="http://schemas.openxmlformats.org/officeDocument/2006/relationships/notesSlide" Target="/ppt/notesSlides/notesSlide7.xml" Id="R929dfb71720647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8e8477ec04906" /><Relationship Type="http://schemas.openxmlformats.org/officeDocument/2006/relationships/notesSlide" Target="/ppt/notesSlides/notesSlide8.xml" Id="Rd0df5d10f7224e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3ddb0937f449e" /><Relationship Type="http://schemas.openxmlformats.org/officeDocument/2006/relationships/notesSlide" Target="/ppt/notesSlides/notesSlide9.xml" Id="R3e4c72b22f974c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a99be788a4e39" /><Relationship Type="http://schemas.openxmlformats.org/officeDocument/2006/relationships/notesSlide" Target="/ppt/notesSlides/notesSlide10.xml" Id="R37f98566aba74f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B1744-DD11-470C-B496-FD4D71A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F7F2B-676E-416D-B7E7-A8F6A381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01 / WHY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7A6A4-7C06-478F-86C9-6B62657F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A textbook is linear. A personalized curriculum is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202B7-F346-4E15-B273-A39B4F5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46F66"/>
                </a:solidFill>
                <a:latin typeface="Aptos"/>
                <a:ea typeface="Aptos"/>
                <a:cs typeface="Aptos"/>
              </a:rPr>
              <a:t>textbook gives one reading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4802A-308E-40FA-A324-F73C1BAE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9848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D6DCF-14FD-401A-AA0F-7288F0A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1390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8A894-0EE9-4F34-B75C-323B690F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6562F-5466-4E5D-A364-1D827DD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5C9C5-E95F-4E05-BC6B-C553157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next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45657-B60C-42CD-8FD9-1178633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390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4B5AC-654E-432A-B3A9-94C9D32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E373D-44DC-4B70-B308-B8BCDA6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69045-C5D5-47DC-BF28-633B9F36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28875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next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62FD4-0B77-4485-B8EC-22897EC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1390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ACC7D-DA52-45AC-B7A2-958854C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B1A6A-417F-48C5-848E-73C0983A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E6855-09B1-4C7C-931A-80B96EA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next 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D269B-455C-4768-A962-AC74DB6A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390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DF9F3-B67F-4EE2-A1D9-49F1220D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BC797-A18E-4874-A44F-47E14DA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336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CE656-E02E-4802-A30B-0CFF432C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28875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next page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9B6EB-3AFF-4C30-B814-F7E861C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1390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9A08-43ED-4ADA-8DA4-E2F60633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D730C-A227-4133-969D-28ED61A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336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F280B-6D6F-4F93-AED0-98273F9A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28875"/>
            <a:ext cx="1104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next page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FDC38-5940-43CC-B53D-29177A2B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552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06017-9203-438B-9603-DF9A6D46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D8E437-E6B3-4F1C-BB89-65FA1C3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47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036DD-6076-42FB-93C6-7EE4FEAA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623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46F66"/>
                </a:solidFill>
                <a:latin typeface="Aptos"/>
                <a:ea typeface="Aptos"/>
                <a:cs typeface="Aptos"/>
              </a:rPr>
              <a:t>curriculum generation needs a map with more movement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4F9CD-1C28-44D1-B446-CD565DC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16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0B959-3D8D-4853-A96F-58FBAD9F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4ECF17-E7F3-43DB-92C4-7AECCF71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Relationship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C23F5-59EC-4E28-A582-EB126D9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00575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connects sections by meaning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instead of page order alone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26CFDB-EC06-4FA9-8FC4-F2E3794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FBA0AF-EBA5-4F5E-B40A-294D70FC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6478E6-9C95-4136-A69D-32396BDB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Dimension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C3D9F-346F-4DC4-971B-76BF7E9E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prerequisite travel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move backward to what must be known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38661-B6DC-4A48-95CC-59FE41E4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755682-50B7-4BC0-B58D-0D671FA2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DAF909-0F48-48FB-AB18-132D2111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Dimension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94446F-B2A9-4126-AC55-D8F244CE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0575"/>
            <a:ext cx="2457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similar-concept travel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move sideways to build intuition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01F0C-B327-403A-A628-5B57398A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2B47C9-C71F-4EC6-B30E-61EA12DE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066F18-2C4F-4086-BF1B-179F31EE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291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6184FD-F217-48FD-8563-B8E6166D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5924C5-7243-47CD-A0D9-E27D82B3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285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923FC1-9E3F-47DC-BBA1-357E7462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749471-8591-479D-B5E7-BF30067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531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7CF755-77D8-4633-83CC-D507421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19775"/>
            <a:ext cx="6705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relationship extraction turns textbook content into prerequisite paths and reinforcement paths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49403-FB62-467C-BB16-769C831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01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11851603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83D9A-D187-492E-B188-0866163D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C4105-7B99-48D8-A830-5E191034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02 / SOURCE INGESTION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0B209-7628-4BD1-A7CF-4D7803A6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Textbook JSON is converted into section-level LLM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07345-87A4-4EED-B9EB-921F39E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9525">
            <a:solidFill>
              <a:srgbClr val="3036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6629B-E527-4DCC-9706-1DF4875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B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B4FF"/>
                </a:solidFill>
                <a:latin typeface="Aptos Mono"/>
                <a:ea typeface="Aptos Mono"/>
                <a:cs typeface="Aptos Mono"/>
              </a:rPr>
              <a:t>chapter.json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117FB-FBD0-4A29-9C60-0748D3B2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8003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"chapter": {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"sections": [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{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"id": "...:1.3",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"title": "Significant Figures",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"content_text": "...",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"subsections": [...],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"worked_examples": [...],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"diagrams": [...],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  "tables": [...]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  }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  ]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77FC9-72FE-4472-BC2D-450A7796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C981F-C300-4F6E-97E2-780278E2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8D34-DA02-4689-B546-30378A03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slicer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553D1-E129-409E-BD6B-A5CF38EA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9557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One top-level section at a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B1F41-07D5-440C-89FC-EFF8F32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BAEC7-A6AB-4E68-97F2-F4FC112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8BE31-AA71-4A6C-8C87-1AB81A0C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57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preserve source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4A548-73EE-40EA-9D20-7881706A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60829-C277-4E47-936E-FE0F2FBC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EA4C-41E3-465C-A18D-9E0594C1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Current section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882C7-B68D-406E-A029-46DA427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full text + subsections + examples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64139-209A-43F9-91F0-6E276810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27669-D534-4EA0-99ED-47E82FA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765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D37CD-CA69-4243-B816-44F2DE06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Chapter skeleton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F4640-12A6-4881-9BE6-6D5898B1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05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other section titles + summaries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DF577-6683-4E88-ABF4-DF401AF2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AD2A9-D6FD-44C2-93E7-B29324F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7E30A-170D-4197-92FD-4F5FD8B8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Prompt 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6175E-0097-4B7C-86D2-035AC546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6722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no whole-chapter prompt bloat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D6957-246B-489D-9548-474ABA89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86258D-F080-432B-8D5A-DB038380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79D10-21B0-41B8-8F44-C673327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31FA2-450E-47B5-BD13-04B6DC3F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AE0A78-B755-45D1-AC12-76107863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C1F7E-B045-4E9C-8573-F0DD2C0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9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FC0"/>
          </a:solidFill>
          <a:ln xmlns:a="http://schemas.openxmlformats.org/drawingml/2006/main" w="0">
            <a:solidFill>
              <a:srgbClr val="D7CF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5AA02-5B89-429E-ACE4-68914A95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FD64E-CB1A-47AD-9132-C37202FA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Unit of extraction = section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D41561-81F2-4069-BCFD-82BAFA90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02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5960210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C94F3-2528-41FF-A602-257B1CF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5922B-841A-4ECA-84DB-8A136F56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03 / EXTRACTION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62573-CB7B-4AAD-8A4F-9FF38386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LLM call produces summary, teaches, requires, and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F172D-AA70-4CA9-ABCD-51BFEC1A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66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9525">
            <a:solidFill>
              <a:srgbClr val="3036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797D4-96EF-464E-9FEA-9122A56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B4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8CB4FF"/>
                </a:solidFill>
                <a:latin typeface="Aptos Mono"/>
                <a:ea typeface="Aptos Mono"/>
                <a:cs typeface="Aptos Mono"/>
              </a:rPr>
              <a:t>current section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74936-A160-44FA-B972-177B431A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3241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"section_id": "1.3",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"title": "Significant Figures",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"content_text": "...",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"subsections": [...],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"worked_examples": [...],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  "diagrams": [...]</a:t>
            </a:r>
          </a:p>
          <a:p xmlns:a="http://schemas.openxmlformats.org/drawingml/2006/main">
            <a:pPr algn="l">
              <a:def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CE3EE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E2531-5692-4382-BA30-283E0635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911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0">
            <a:solidFill>
              <a:srgbClr val="E7EEF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F43B0-1EEC-4454-BA9C-2B5F07E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chapter skeleton: summaries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C00FB-9685-4232-A814-8B29669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81375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01AC0-21AF-4948-9B4E-CD9F1B6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9994E-0E13-481B-B629-07300A42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190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D4FC3-6A9B-4562-A1AE-4F6D33C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94418-2057-4219-A314-AC51A09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extractor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FA490-2B30-4C02-837D-AFFB84D8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1905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reads one full section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returns strict JSON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keeps evidence +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6EBC8-8577-49E1-815F-9B33E538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942EA-5F48-47C8-AC3C-C07F56D6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43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0B603-7937-4B16-9A2A-697C9B0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E70AF-244C-4E85-BAEB-1F09493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52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B37BA-AD21-4A1C-8ED5-AD81046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C8A46-3856-4E93-AD83-3FBA46A7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76BE9-D01A-40EE-ABCB-D04240F2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B268D-5538-4E40-A88A-D4856A23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0469D-B7EF-4418-A829-E9B8A689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FE8F0-07DE-4448-942A-88560BD4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76AC3-C30D-4222-9128-37FE4A01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3CEA3-4E4C-4649-B6E8-BAA13B4B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E0344-B26B-4887-9E26-C45C1D0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FB7208-01DB-4AEF-B4DD-6A73FBDC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section_summary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16292-E4A1-4EF4-B893-68830C5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short summary + key terms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76BBF-A6F2-4F5F-B143-2FCD779E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F8A67-6173-4377-99B4-D6F59A79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1502B-AE01-4EDE-9AF4-FF04EB3D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TEACHES_CONCEPT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3C3A4-A26D-4325-BF76-580F17E6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384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what this section teaches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928C96-CFFA-4C43-8462-23FCA19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5718F-312E-4DD2-9DB2-003035AC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DABE47-F279-4E8D-9D0C-7EB19BF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814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REQUIRES_CONCEPT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AB793-6A50-4100-92FA-E779E7A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766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what learner should know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C3B0C2-E6D8-48A2-9F11-E77F6147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B4756E-DA96-4837-B27C-118438B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E75DBC-130A-4E4C-806E-8F044B9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reasoning +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EA1567-225F-40A4-9299-5AAFCE17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339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why the edge exists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0AAAFD-E93C-4D9A-B106-213F4F6B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9C0CC"/>
                </a:solidFill>
                <a:latin typeface="Aptos"/>
                <a:ea typeface="Aptos"/>
                <a:cs typeface="Aptos"/>
              </a:rPr>
              <a:t>only the current section has full text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DA74B7-3A77-4ADA-B473-0A76ADDC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028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9C0CC"/>
                </a:solidFill>
                <a:latin typeface="Aptos"/>
                <a:ea typeface="Aptos"/>
                <a:cs typeface="Aptos"/>
              </a:rPr>
              <a:t>outputs become auditable graph artifacts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1FEB84-B111-41C0-9BF5-3B5E5E46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95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95A3"/>
                </a:solidFill>
                <a:latin typeface="Aptos"/>
                <a:ea typeface="Aptos"/>
                <a:cs typeface="Aptos"/>
              </a:rPr>
              <a:t>03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15528787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0A0FB-BCCA-4B11-8A12-BBADE549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D46EC-7770-4AB2-BA45-DACE3B82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04 / CONCEPT NORMALIZATION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C7204-9AEB-410B-AF2C-00B52B1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Many labels collapse into one canonical concept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B222-30E4-4028-BC3A-9A15D65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F148B-CFAD-433C-8962-5EAEB51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FD7CF-C7F9-4B12-99FD-0D9E3061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significant figures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2C76C-11D6-44F7-B4D8-1F244ECC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raw label from section 1.3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A5052-B773-47DC-AC23-03BC691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AC9F4-EC35-46CA-8B9C-A31636C3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832A6-ADEB-4AFD-8EB9-63FCD31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significant digits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EE9B8-7A36-4558-AC06-D182476A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raw label from another section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81519-CEF9-4B06-908C-9093CB4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2B9B-8B9C-4CA7-9497-E925D4F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CE5DF-7F53-4B6C-8CF4-7AAF82A1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measurement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405AF-3418-4BD5-A38E-1CBE21E4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related, but not identical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133CE-457A-4F64-BD53-C1CDBC56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8122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3C41F-EA8E-4765-A1A5-1DDD80BA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2FD13-34A3-4249-B555-6C56935C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2897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7E79F-29F1-489F-966B-0D4EC20F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90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6E1F3-C026-4D59-BBE7-9BC65EE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76725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09468-DA3D-412F-9F93-33DF732D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BCE28-F3C7-4E41-A8E2-2A48D38C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571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AEFED-079B-477F-9ACE-523E6F4F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7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7A73D-08A4-4335-A73B-AFB89D89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Review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1BDC3-CCDD-4E27-A0B9-3E712FB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71725"/>
            <a:ext cx="2286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same concept?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merge if equivalent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keep distinct if broader/narrower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C83AA-865D-4330-B662-3817039F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81311-C7B2-4BA6-B2EC-1DE62F07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B162BF-B219-4A50-AFEB-9152A061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concept:significant_figures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6D964-6934-4900-98DB-A13A891C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2412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aliases: significant digits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F992DE-ADB2-4DBC-ACFA-FC62BFB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E327F-8D38-4DDA-A74E-52F60646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181174-B8C0-4B52-B52B-888127F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concept:measurement_precision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54433-74FD-4AF0-B920-DAF03938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4337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separate canonical concept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5C6A16-4EC2-42FC-927A-84799673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DE1369-77FF-4DD0-9317-7918725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060C1F-0849-422E-B9AD-43CACEB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BF53E3-1556-46FA-900E-08BBC998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68AD69-0F18-4D75-B0D8-929E711C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DAB548-EE60-4DA6-83B2-5F0C011E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86325"/>
            <a:ext cx="2990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canonical concept IDs become graph targets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88EA46-150E-4ADA-9088-846ED99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46F66"/>
                </a:solidFill>
                <a:latin typeface="Aptos"/>
                <a:ea typeface="Aptos"/>
                <a:cs typeface="Aptos"/>
              </a:rPr>
              <a:t>review prevents accidental over-merging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4AC919-024C-4807-B662-2990F792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04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5924709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3D35E-C347-4405-A103-B959A0CE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3E00B-505F-426E-931B-E65EF460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05 / CONCEPT EDGES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BEC04-AF40-48D4-A430-101DF9A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Section summaries become concept relationships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1CB42-F0C4-4DF1-AB32-609A255F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5D0D-5813-4E71-8656-015822E7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6E4CA-9277-4F50-8A7B-DBB3131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section_summary 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F2AE4-4134-4434-BAA4-9C312B4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section_id: 1.3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summary: ...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key_terms: ...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concept candidates: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AC313-48BD-43E9-A5C4-63D84DB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76575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1D71-79D0-4ADE-9B44-0084DC2E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38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BCD2F-EF49-4056-996A-94B25385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EA954-565A-49B4-BDCF-3BD3D26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54DF4-C145-4221-9557-EC0C8B3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Edge builder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7A6C8-9FA3-440C-A746-0EC35CC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90825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maps labels to canonical IDs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keeps evidence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adds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BAF0F-132D-42A3-A1C1-37579FA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20872-8340-4766-BCB9-BCD55563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39BDB-EA8C-47FD-898D-F7D648F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TEACHES_CONCEPT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240CC-F305-4D28-8B4E-00543BA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81225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from: section 1.3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to: concept:significant_figures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teaching_evidence preserved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9EB5F-812B-4CC2-AB73-F621D808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7A93B-A6D3-46B7-BD0C-F37C51A6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27398-7DAC-4017-943C-0DEDCC0D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REQUIRES_CONCEPT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D6C8-1814-4B7C-A1AC-A52F671D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62425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from: section 1.3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to: concept:measurement_precision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pedagogical_reason preserved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74DBC-F1F4-46D3-86EA-848C0F0A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19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BABC4-40C6-4856-B3EE-7A970F42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765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BC7B2-F4DF-452C-8D8F-151E9A9B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977D6-FC26-4680-8527-CEA4110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3A0E2-7E72-4F6D-8CF3-27FBF5C1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67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BA2C4-F9BC-440B-AAFB-240EA093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EDA7A-C459-493B-BAFA-B3A9FFFB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19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3F06EB-2843-47BF-9449-1A8E9E1D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86375"/>
            <a:ext cx="384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accepted / review / rejected after confidence gating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E1275-7AA5-46CE-8E6B-E2DCA802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720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46F66"/>
                </a:solidFill>
                <a:latin typeface="Aptos"/>
                <a:ea typeface="Aptos"/>
                <a:cs typeface="Aptos"/>
              </a:rPr>
              <a:t>section IDs and concept IDs stay exact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43D12-F309-4081-A715-348E46D5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05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20739453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9F78D-328D-48F7-9108-8A42F52F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D6745-386F-4BFE-9B35-88EF292D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06 / SECTION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3D562-DC2D-4C11-8777-4165105F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Concept bridges create three section-to-section edge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B6F6A-CEA6-425B-B670-01DD88C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7C599-21D9-4857-B96D-527614D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8644-7BE7-464C-BAAD-F590787C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D8A9B-0421-4257-9BBB-EC8EF3C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TEACHES X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same chapter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80FBC-92DF-4F57-B23B-F623D86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52710-CE29-4F2B-A531-8B00CD1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E39BA-B9AC-49AE-94DC-E6C0F410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8D7AD-69CF-4DAE-B33E-3AD0D698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TEACHES X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other chapter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41BB1-E6DC-489F-B0F6-03706E4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C0EB5-C186-4BE3-9654-74D2EB15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46733-19CA-4F35-B474-C1DF8D58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D29B9-9A06-4C5F-A129-E2546211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TEACHES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23576-E9D4-44B9-B177-4002ED94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88C43-82A7-44C6-BBFB-A28C1E54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AE999-8AF9-4033-BE2F-A1CCC213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52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Join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CA221-132B-449D-9447-33382E45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same concept 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0D843-9C44-498E-902F-24B26B49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3808A-472B-4CF3-9B93-07E860D9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A5763-8118-405A-85C8-A8B51E2F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Join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91252-FC3A-49B3-AD4A-48E708CA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71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same concept 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4CEB8-B17D-425D-9A52-B81247BB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637B1-FCBD-4338-8034-AFFD4CE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82581-8D97-427A-A90D-7C3EE02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Join 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1CB01-17E7-4E15-AEA8-F0C0FAD4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95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same concept 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9ED79-9ABE-403F-8F66-CEC94A5B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1BB61-B7F8-4F7C-80CF-3E253CBF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808B6-C624-4CD3-9766-7DCBC1E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53DE3-1D71-4AC2-9C57-4CF0EEC3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REQUIRES 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89FD9-F3A5-4EDB-9C5B-7825ACC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0352EA-4B92-47E6-AF69-14286391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CC4777-9F97-48DC-AEC6-1A4C5B88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6C180-A27B-4B82-ACDD-6D273D89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71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REQUIRES 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C61FD-698D-4988-AD3A-F46D677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076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595C9D-BBD4-4ED9-AD48-E3400D82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3CB951-110E-4FC6-85F3-2090681C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Section 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024BDF-F8E1-4221-8A47-457B4840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9587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TEACHES 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C3001B-E885-4B0E-82C3-249169B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914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89D057-9076-4684-A4CF-656DCEAF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547425-5BE9-41A2-9423-3EB612F9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DEPENDS_ON_UNIT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218E06-6C87-4ADC-B396-D05DBA5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from B -&gt; to A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study A before 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216511-039F-4F62-A810-FCBDDE0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914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6E11FA-3EFF-4178-88A7-76E9D4F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04B765-C3D7-4A6F-8CA4-752C8295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TRANSFER_SUPPORTS_UNIT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FA872C-9FB2-4C30-ABA5-08681453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from B -&gt; to A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optional bridge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C20CE0-5B06-4D24-9670-43347946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914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963B3D-F57E-43B5-B9D3-C4F6B4A7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9B1CFB-125B-4BC8-9622-F9E69A00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053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RELATED_BY_CONCEPT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C9D6E5-848E-4196-B60D-E163F4B3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00625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from A -&gt; to C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reinforcement only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46587E-3DA6-4C07-A554-B64529BD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9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4B185D-6C2A-404E-BC9D-A7003B1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71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752609-E01C-40CF-9E3D-D77D4548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9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B531E3-315C-479A-B406-F2F59CD3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71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6076D3-01F5-4BF4-A667-DA7CE71D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97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BE5DE4-10A4-45F7-8201-87D4D96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71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ED55DD-635E-41F5-9A0C-6D7243FF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DA6FBB-D66F-456F-A83B-0BF1482F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FA422D-E5C5-40DF-894A-245E242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3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D6BA91-64DE-4486-B195-518C1181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58F537-20ED-4755-BA59-FEB1FD40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A72C82-AEBB-47A2-8187-A50B405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E546AE-C040-429A-AF46-0F9DF462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57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D5BDFF-FC57-4450-91D8-4200D69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5B2BEC-E72C-4755-B3A1-88130470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577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BCE550-DCAD-4725-BB21-D416931B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0F5583-CCA4-4ACA-9C76-FAD554E5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577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57FE7D-41A1-41BB-B7D1-7BCC46B9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4164C1-F5AF-41BD-9546-241D0E0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06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17391653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8CFE6-D4A2-4F18-B35F-C5118DE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167D0-BE64-4CF5-89DA-9E9D6453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07 / RETRIEVAL PACKET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2F69F-3666-4F03-9A1B-1B37625A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Runtime retrieval combines vector matches with graph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35A2-BD2D-4F99-A21B-D79D184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6C590-0B0D-4726-A997-5B18E0CF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6BAC-09C0-4219-A50C-FA273618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5E6E5-51E8-4413-A22F-17A68474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subject filter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+ refined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93136-3B73-4B89-8178-25A6E6A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47726-9FC4-4AF3-9417-5CB304F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F556A-E476-4010-8BC2-E2E3282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Query 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913B2-A2B4-4A62-90A2-76D8F3C1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907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BGE-M3 vector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1024 dimensions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910E0-0F75-44B3-B5AE-849DFBF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FB2FE-B4FA-4018-801D-DE902B5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10F8C-9A98-45A1-8282-EDBFC433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pgvector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CBF88-707E-43B1-8BC3-DC3A65C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907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subject-scoped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top candidate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15BF6-3594-4F1D-8CD8-171E704A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D17BC-610D-4A01-B314-A9933F52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8E843-5FDB-45A4-940B-4AFF6F45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7AC29-715E-4066-98D7-BDF3400A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90775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vector score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evidence score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max target seeds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30641-B044-4B43-A0CD-923B879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FFA6C-33CC-4D89-92F3-EB0F4FE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5A0F6-E8CC-4545-8678-7A9F7DFB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Graph expansion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6CD3C-D7D0-4E1B-8127-6F26F68A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862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DEPENDS_ON_UNIT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TRANSFER_SUPPORTS_UNIT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RELATED_BY_CONCEPT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81B77-B9CE-4E21-9AC4-DFC57B69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3028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00F08-FD1D-428F-9D52-900F12B7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EC3A2-A1B6-4423-8386-F105F2C5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6240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Planner packet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B737B-6390-4326-947C-48AC4603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57675"/>
            <a:ext cx="2743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selected target IDs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hard prerequisites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optional buckets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section-link reasons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EF810-4C0D-4F65-8B57-9B8E000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C9A94-C883-450C-B5E2-D82D3A8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1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48DBC-3B1E-4A5E-A6F3-D79D64C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860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2E97CB-C372-4E05-A133-8FA4304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E24A71-E975-4790-9497-0757E0E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8A356-94E4-4B6F-884F-1EDB9907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DD288-4570-4789-8036-E4D44F5D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20ECAC-BED7-45C0-8C1F-94AE6667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47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6502F6-0288-4293-8D03-98825F54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099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81F73F-9901-4407-A116-0AAB769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29000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F9E655-C9BC-4831-A255-F003B94F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290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3E4D9E-B262-4E90-8CB0-9358334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EC904C-482D-4D4A-9C7F-597D20C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81525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EF12F-92B9-4AB1-9516-CA90DEB7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B63E49-8C7A-406C-A3D3-3E547AC6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A"/>
          </a:solidFill>
          <a:ln xmlns:a="http://schemas.openxmlformats.org/drawingml/2006/main" w="0">
            <a:solidFill>
              <a:srgbClr val="ECE8F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81E8A8-C2E8-4245-B886-34450654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F5A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F5AE8"/>
                </a:solidFill>
                <a:latin typeface="Aptos"/>
                <a:ea typeface="Aptos"/>
                <a:cs typeface="Aptos"/>
              </a:rPr>
              <a:t>candidate pool can be broad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3A6E88-2431-48EC-AC68-184D15A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57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0">
            <a:solidFill>
              <a:srgbClr val="F7E9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3D6400-2D53-4E12-8D0C-5E3D231E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24525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862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8622"/>
                </a:solidFill>
                <a:latin typeface="Aptos"/>
                <a:ea typeface="Aptos"/>
                <a:cs typeface="Aptos"/>
              </a:rPr>
              <a:t>planner packet stays bounded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A03B12-7423-4417-8D21-912C6A0F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10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4C6D5E-0A55-48C6-9E83-8592F69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76925"/>
            <a:ext cx="2705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full textbook text in this call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9F9528-13DD-4508-B4CF-6781BCB1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95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95A3"/>
                </a:solidFill>
                <a:latin typeface="Aptos"/>
                <a:ea typeface="Aptos"/>
                <a:cs typeface="Aptos"/>
              </a:rPr>
              <a:t>07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9859134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BCA36-684E-4411-9B7A-5C0CE911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5E4D4-1264-4CAA-8668-BCB7517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08 / PLANNER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963EB-DAE0-4B54-B069-72B2770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The first LLM only decides sequence and 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D74B8-4448-480B-939F-994FB3F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8C5CE-20B3-4FFB-8DE9-309A4AA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20328-7928-4DF3-8ECC-0371C923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Planning packet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7B4F9-66E5-473E-B0AD-53AE16F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selected section IDs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section summaries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hard dependencies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optional buckets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relationship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BEB9-78BC-4F20-869D-5B3E0B4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E493F-E5D9-4255-ADAA-D271338C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FE0AC-A91D-4061-A186-7112BB2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9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Planner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EB875-A2E7-4D5A-A364-678744A6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050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groups sections into modules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orders the modules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explains transitions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485C3-B859-4A5E-B69E-4098010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571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13348-1C36-4DE7-955B-3A7D292A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1C3CC-33F1-42ED-9FC5-6914C6E4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Ordered module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D8341-A248-411C-BBB9-52972D13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050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module_id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position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source_section_ids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link_to_next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E7AE2-AC58-4169-8206-9175C84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D52E4-F1BC-460E-AE5F-5B4AEB5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97676-C467-4F85-B4CE-D9E7880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5E4BE-E34A-4280-8B80-BF6C23F1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D321B-DC25-4AED-81CE-DDE52AE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0DE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6D17A-9AFB-4ED1-BBE9-6206A016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E4E"/>
          </a:solidFill>
          <a:ln xmlns:a="http://schemas.openxmlformats.org/drawingml/2006/main" w="0">
            <a:solidFill>
              <a:srgbClr val="D84E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CA836-4BB2-4818-8EBA-090E19A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Not asked here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B8A04-A9C6-4E25-82CB-44D8DD4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4347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concept IDs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activities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MCQs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teaching content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02718-4B37-4F00-B614-D6BB06F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148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6D329-53D5-425C-948A-AE09209F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148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6D4EB-2234-45DA-AA0E-6C8D8511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Output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F02441-E91B-4D6C-8803-FB7D0B9B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4347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IDs only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main path only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optional IDs separate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93CD2-ABB2-4793-AA4C-3AD4DB4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343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723E2-A547-46D6-9E22-0B2FDB03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A53FD-7845-4D00-A112-FAFB66E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Backend validates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FCC35-9699-4CDB-AFA0-EF26FC21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4347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source_section_ids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main_path membership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module cap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52056-2C1E-458A-9857-BD4A10F8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91200"/>
            <a:ext cx="464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7DB0AD-11AC-4C1F-9AD5-B8DC77B5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857875"/>
            <a:ext cx="449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planner call = what to study, in what order, and why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E78E88-B090-42F7-9602-149A1D28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08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13386690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7B884-5DD8-4668-A6BD-49331B89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EFA1-5064-4312-B4AF-50C50A0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09 / MODULE DESIGN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3732E-1047-45DC-BA54-888EA19E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The second LLM designs one module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DA72A-F97B-4B64-835C-FDE213CD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F424C-D865-474E-ABF6-51C2FFF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86855-4600-4318-84BB-D81416F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Planned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BA6FE-0D86-4BC7-9AAB-2F10DDE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module_id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source_section_ids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link_from_previous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link_to_next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D9E3D-45E6-447E-B3A3-0AC7902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002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3E4E5-E8C4-49A6-B489-7B7CCA05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002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9256C-C51A-4E12-9835-CF207671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335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Derive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9B71-0BDA-416C-8A3D-78B48F1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28825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TEACHES_CONCEPT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REQUIRES_CONCEPT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bridge reasons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7C94D-0C58-4D68-BBAE-F39FC5D7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099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88560-3599-40D9-8869-299D5CBD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099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DFDFD-62E3-4A00-8A31-87476D3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43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Add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59F69-2078-4452-9FEE-77D1ECA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38575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section summaries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latest insights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active hotspots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MCQ target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021F0-AF05-4012-963E-3473B35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A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0191B-4A61-4B67-8D1B-DE32834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01D21-C4C6-42E5-A183-46ABB5AA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Module design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C434B-C27A-434C-8BCC-7E39591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905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lesson blocks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guided activity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misconception handling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checkpoint MCQs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B5CD8-E342-463F-AE33-5700FC8F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676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C066A-A243-4E96-A816-A7CE2BC7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BC5AF-EF7E-4D3D-A72A-E9094B7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146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Saved 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A9D13-A712-4D64-813D-BC38C237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9875"/>
            <a:ext cx="1390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module_design_id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checkpoint_mcqs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252DA-D891-4D5E-8937-27A4B3E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03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EB901-8CD9-4732-B136-492B35E8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42A282-F8BF-4F1A-A2D7-B40B288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7A1E0-0463-4038-A043-4109D7E0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0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BC203-156C-41A0-8C33-9818FF64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5E4E2-D886-4276-9C33-5019552E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1BE29-CDE2-48D0-8F1F-4D4E02CF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7E6C40-85E4-4084-BFC7-FA403756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E4BB4-8480-4FFC-8E98-B76DB6F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00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7ABF5-1A8E-47AE-BDCA-3DDBDAB4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C8B3C-F7AE-40E9-9F75-CE74395A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55D90-246E-44D6-879D-2D975364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80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D7FDDF-144C-4F79-B149-5BD4961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1C4DA-69C9-4B10-A0F9-B191D11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054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E3C9CA-97CA-4FD8-9EB1-B446C88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72075"/>
            <a:ext cx="489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textbook text is not sent; summaries + graph reasoning are used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CA8B1-2D6D-4EE2-9BD2-6387115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A"/>
          </a:solidFill>
          <a:ln xmlns:a="http://schemas.openxmlformats.org/drawingml/2006/main" w="0">
            <a:solidFill>
              <a:srgbClr val="ECE8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BE8771-C2D4-4E14-A7F8-9C8405A7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62625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F5A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F5AE8"/>
                </a:solidFill>
                <a:latin typeface="Aptos"/>
                <a:ea typeface="Aptos"/>
                <a:cs typeface="Aptos"/>
              </a:rPr>
              <a:t>module design call = how to teach this module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5ED7D4-8A52-48A9-ADFD-B7FEF15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09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8104242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B7E104-2317-4FC3-B10C-7212223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62986-26F5-45C4-B392-880D6ED1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10 / LEARNING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8FD06-0837-464A-9CC3-53EF2D0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1414"/>
                </a:solidFill>
                <a:latin typeface="Aptos Display"/>
                <a:ea typeface="Aptos Display"/>
                <a:cs typeface="Aptos Display"/>
              </a:rPr>
              <a:t>Checkpoint answers become future personalization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FBAF7-0621-49CA-9D25-1DAA072B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057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6273A-B6A0-4769-B5FF-42ACB9E0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E316C-4DE4-4CA8-B1FE-42089F0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Learner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D5FB3-9E35-4EEE-A8B0-A638DAE7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question_id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selected 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C2F99-DD5D-4A3B-A754-5E9C4D75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8D76E-A9E4-423E-AEB8-6BAC9995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35964-E1FE-4286-81BE-FC5530BC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Stored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52A52-CD71-498D-B2B6-B1417FA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loaded by backend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from module_design_id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C3679-921C-478F-8839-722B71D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C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3C08D-B600-40D7-A335-41C80BD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89BB0-A284-45C8-BFC4-4B42F50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Deterministic scoring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F87182-6351-4EA3-BE12-50F784F1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43175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correctness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weak sections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weak concepts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0509C-AA72-49B6-A761-1F6ABA7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64E94-C271-4C9A-94FB-907855C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4DF26-EB29-4F1F-9FD8-47BB52EA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Insight 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3FD57-922B-43A6-B7DD-2A51BBCA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317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current evidence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+ latest prior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73ABF-1481-4692-9AA1-6561E852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C855A-638A-4C37-8638-47159FEA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E3AB0-C840-4720-96FC-C3CF938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5C679-549F-4B78-B40D-D611D816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93404-A202-47F3-A884-B6D8BB0A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7825E-8E66-409C-85C6-24922B5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E66EF3-A86D-414F-B9C4-5B3ABE0C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510D6-FD89-4E2C-8F20-C5D574E5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B26D1A-242E-4EE8-9027-EB7B932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Checkpoint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F45637-D167-4BAD-97BB-902EEEE0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67275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attempt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answers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241C9-C4AA-4267-A782-E8772CF5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5B8507-5B4B-4905-88B6-0CE284D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DE6DD7-FF9E-482A-80CB-E2A2F92D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41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1414"/>
                </a:solidFill>
                <a:latin typeface="Aptos"/>
                <a:ea typeface="Aptos"/>
                <a:cs typeface="Aptos"/>
              </a:rPr>
              <a:t>Latest section insight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BF0BC-6049-42EA-9052-090C281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67275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one active insight</a:t>
            </a:r>
          </a:p>
          <a:p xmlns:a="http://schemas.openxmlformats.org/drawingml/2006/main">
            <a:pPr algn="l">
              <a:defRPr sz="915" b="0">
                <a:solidFill>
                  <a:srgbClr val="746F6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46F66"/>
                </a:solidFill>
                <a:latin typeface="Aptos"/>
                <a:ea typeface="Aptos"/>
                <a:cs typeface="Aptos"/>
              </a:rPr>
              <a:t>per learner + section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5320F-3BA7-4AAE-AD37-F9459CEC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2343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3940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CC3BE-FDF6-4E13-9EFF-D6606E9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6E14BC-FFAC-4322-81AF-2EE3D45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720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module packet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89DE7E-6CD1-42EE-8283-46EED1F7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67275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latest insight</a:t>
            </a:r>
          </a:p>
          <a:p xmlns:a="http://schemas.openxmlformats.org/drawingml/2006/main">
            <a:pPr algn="l">
              <a:defRPr sz="915" b="0">
                <a:solidFill>
                  <a:srgbClr val="B9C0C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B9C0CC"/>
                </a:solidFill>
                <a:latin typeface="Aptos"/>
                <a:ea typeface="Aptos"/>
                <a:cs typeface="Aptos"/>
              </a:rPr>
              <a:t>+ active hotspots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0F344-465D-4CD4-83FF-E7B8BCBD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A8E74A-20AE-4AF0-92DA-AAEE25A1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95750"/>
            <a:ext cx="3609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2F678D-6F9D-4F8B-BD95-D5B19A23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957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44695B-4E83-4A75-AA5B-D9E7F77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6A"/>
          </a:solidFill>
          <a:ln xmlns:a="http://schemas.openxmlformats.org/drawingml/2006/main" w="0">
            <a:solidFill>
              <a:srgbClr val="16A06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C14E31-B6E7-471C-85D1-B1055F4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974B1D-FCAE-4F26-B5F4-57253FC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3267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622"/>
          </a:solidFill>
          <a:ln xmlns:a="http://schemas.openxmlformats.org/drawingml/2006/main" w="0">
            <a:solidFill>
              <a:srgbClr val="D9862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EDDED9-78E6-44F2-8272-01B2AB3A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546864-A0A3-442B-8D7F-EB24DF58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D51268-EB53-42A7-A830-E70F737A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339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77E442-1F85-45A2-B1B4-ED4DAE6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5AE8"/>
          </a:solidFill>
          <a:ln xmlns:a="http://schemas.openxmlformats.org/drawingml/2006/main" w="0">
            <a:solidFill>
              <a:srgbClr val="6F5A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2BFAED-503E-449F-9B7F-D285B9A5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0">
            <a:solidFill>
              <a:srgbClr val="E7EEF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D03404-9840-4745-BA59-2F0B7A80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990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frontend sends answers, not MCQ definitions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C08567-4703-43B2-A518-4EEC3283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A"/>
          </a:solidFill>
          <a:ln xmlns:a="http://schemas.openxmlformats.org/drawingml/2006/main" w="0">
            <a:solidFill>
              <a:srgbClr val="ECE8F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D982CD-DC0C-47C0-86D1-A429E03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19775"/>
            <a:ext cx="2228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F5A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F5AE8"/>
                </a:solidFill>
                <a:latin typeface="Aptos"/>
                <a:ea typeface="Aptos"/>
                <a:cs typeface="Aptos"/>
              </a:rPr>
              <a:t>old section insights become history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D2CF92-3F8A-4822-BF2B-DC33BB3D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753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5"/>
          </a:solidFill>
          <a:ln xmlns:a="http://schemas.openxmlformats.org/drawingml/2006/main" w="0">
            <a:solidFill>
              <a:srgbClr val="F7E9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DCF85A-539D-4A1A-9956-394A9004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9775"/>
            <a:ext cx="3276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862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8622"/>
                </a:solidFill>
                <a:latin typeface="Aptos"/>
                <a:ea typeface="Aptos"/>
                <a:cs typeface="Aptos"/>
              </a:rPr>
              <a:t>population hotspots use aggregate checkpoint evidence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5F2B78-B328-467E-9CE0-E920173C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B948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B9488"/>
                </a:solidFill>
                <a:latin typeface="Aptos"/>
                <a:ea typeface="Aptos"/>
                <a:cs typeface="Aptos"/>
              </a:rPr>
              <a:t>10 / AI Curriculum Creator</a:t>
            </a:r>
          </a:p>
        </p:txBody>
      </p:sp>
    </p:spTree>
    <p:extLst>
      <p:ext uri="{BB962C8B-B14F-4D97-AF65-F5344CB8AC3E}">
        <p14:creationId xmlns:p14="http://schemas.microsoft.com/office/powerpoint/2010/main" val="1698244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2026-06-08T04:26:53.0240000Z</dcterms:created>
  <dcterms:modified xsi:type="dcterms:W3CDTF">2026-06-08T04:26:53.0240000Z</dcterms:modified>
</coreProperties>
</file>